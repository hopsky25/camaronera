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59775" y="0"/>
            <a:ext cx="3931920" cy="6858000"/>
          </a:xfrm>
          <a:prstGeom prst="rect">
            <a:avLst/>
          </a:prstGeom>
          <a:solidFill>
            <a:srgbClr val="12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59775" y="0"/>
            <a:ext cx="73152" cy="6858000"/>
          </a:xfrm>
          <a:prstGeom prst="rect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horizontal-oscu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40080"/>
            <a:ext cx="2800865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21488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4FC7D6"/>
                </a:solidFill>
                <a:latin typeface="Segoe UI Semibold"/>
              </a:rPr>
              <a:t>PROPUESTA PARA CAMARONERAS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60320"/>
            <a:ext cx="73152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0" sz="4400" i="0">
                <a:solidFill>
                  <a:srgbClr val="FFFFFF"/>
                </a:solidFill>
                <a:latin typeface="Segoe UI Semibold"/>
              </a:rPr>
              <a:t>Sepa cuánto le pagan </a:t>
            </a:r>
            <a:r>
              <a:rPr b="0" sz="4400" i="0">
                <a:solidFill>
                  <a:srgbClr val="4FC7D6"/>
                </a:solidFill>
                <a:latin typeface="Segoe UI Semibold"/>
              </a:rPr>
              <a:t>antes de cosechar.</a:t>
            </a:r>
            <a:r>
              <a:rPr b="0" sz="4400" i="0">
                <a:solidFill>
                  <a:srgbClr val="FFFFFF"/>
                </a:solidFill>
                <a:latin typeface="Segoe UI Semibold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434840"/>
            <a:ext cx="6949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0" sz="1700" i="0">
                <a:solidFill>
                  <a:srgbClr val="9FB4BD"/>
                </a:solidFill>
                <a:latin typeface="Segoe UI"/>
              </a:rPr>
              <a:t>Trazul le muestra el precio de cada empacadora para su talla, le ayuda a decidir cuándo cosechar y convierte su rendimiento verificado en reputación.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6975" y="23774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400">
                <a:solidFill>
                  <a:srgbClr val="4FC7D6"/>
                </a:solidFill>
                <a:latin typeface="Segoe UI Semibold"/>
              </a:rPr>
              <a:t>PERFIL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16975" y="269748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3400" i="0">
                <a:solidFill>
                  <a:srgbClr val="FFFFFF"/>
                </a:solidFill>
                <a:latin typeface="Segoe UI Semibold"/>
              </a:rPr>
              <a:t>Camaronera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16975" y="3474720"/>
            <a:ext cx="822960" cy="38100"/>
          </a:xfrm>
          <a:prstGeom prst="rect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6975" y="3703320"/>
            <a:ext cx="2926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 i="0">
                <a:solidFill>
                  <a:srgbClr val="9FB4BD"/>
                </a:solidFill>
                <a:latin typeface="Segoe UI"/>
              </a:rPr>
              <a:t>Presentación ejecutiva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6245352"/>
            <a:ext cx="10820095" cy="9525"/>
          </a:xfrm>
          <a:prstGeom prst="rect">
            <a:avLst/>
          </a:prstGeom>
          <a:solidFill>
            <a:srgbClr val="2A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>
                <a:solidFill>
                  <a:srgbClr val="FFFFFF"/>
                </a:solidFill>
                <a:latin typeface="Segoe UI Semibold"/>
              </a:rPr>
              <a:t>tr</a:t>
            </a:r>
            <a:r>
              <a:rPr b="0" sz="1000" i="0">
                <a:solidFill>
                  <a:srgbClr val="4FC7D6"/>
                </a:solidFill>
                <a:latin typeface="Segoe UI Semibold"/>
              </a:rPr>
              <a:t>azul</a:t>
            </a:r>
            <a:r>
              <a:rPr b="0" sz="1000" i="0">
                <a:solidFill>
                  <a:srgbClr val="9FB4BD"/>
                </a:solidFill>
                <a:latin typeface="Segoe UI"/>
              </a:rPr>
              <a:t>  ·  Trazabilidad verificada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3895" y="6355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 i="0">
                <a:solidFill>
                  <a:srgbClr val="9FB4BD"/>
                </a:solidFill>
                <a:latin typeface="Segoe UI"/>
              </a:rPr>
              <a:t>Perfil Camaronera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14A0B0"/>
                </a:solidFill>
                <a:latin typeface="Segoe UI Semibold"/>
              </a:rPr>
              <a:t>EL PUNTO DE PARTIDA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3200" i="0">
                <a:solidFill>
                  <a:srgbClr val="0D2B3E"/>
                </a:solidFill>
                <a:latin typeface="Segoe UI Semibold"/>
              </a:rPr>
              <a:t>Hoy vende con </a:t>
            </a:r>
            <a:r>
              <a:rPr b="0" sz="3200" i="0">
                <a:solidFill>
                  <a:srgbClr val="14A0B0"/>
                </a:solidFill>
                <a:latin typeface="Segoe UI Semibold"/>
              </a:rPr>
              <a:t>información incompleta</a:t>
            </a:r>
            <a:r>
              <a:rPr b="0" sz="3200" i="0">
                <a:solidFill>
                  <a:srgbClr val="0D2B3E"/>
                </a:solidFill>
                <a:latin typeface="Segoe UI Semibold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500" i="0">
                <a:solidFill>
                  <a:srgbClr val="5A6B74"/>
                </a:solidFill>
                <a:latin typeface="Segoe UI"/>
              </a:rPr>
              <a:t>El precio llega por WhatsApp, la cosecha se decide a ojo y el peso se discute en la planta.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514600"/>
            <a:ext cx="3423818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514600"/>
            <a:ext cx="64008" cy="2514600"/>
          </a:xfrm>
          <a:prstGeom prst="rect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788920"/>
            <a:ext cx="287517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 i="0">
                <a:solidFill>
                  <a:srgbClr val="14A0B0"/>
                </a:solidFill>
                <a:latin typeface="Segoe UI Semibol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54680"/>
            <a:ext cx="287517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800" i="0">
                <a:solidFill>
                  <a:srgbClr val="0D2B3E"/>
                </a:solidFill>
                <a:latin typeface="Segoe UI Semibold"/>
              </a:rPr>
              <a:t>Precios dispersos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287517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300" i="0">
                <a:solidFill>
                  <a:srgbClr val="5A6B74"/>
                </a:solidFill>
                <a:latin typeface="Segoe UI"/>
              </a:rPr>
              <a:t>Cada empacadora manda su lista por su lado. Comparar quién paga mejor por su talla lleva tiempo y siempre llega tarde.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3938" y="2514600"/>
            <a:ext cx="3423818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3938" y="2514600"/>
            <a:ext cx="64008" cy="2514600"/>
          </a:xfrm>
          <a:prstGeom prst="rect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3978" y="2788920"/>
            <a:ext cx="287517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 i="0">
                <a:solidFill>
                  <a:srgbClr val="14A0B0"/>
                </a:solidFill>
                <a:latin typeface="Segoe UI Semibol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3978" y="3154680"/>
            <a:ext cx="287517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800" i="0">
                <a:solidFill>
                  <a:srgbClr val="0D2B3E"/>
                </a:solidFill>
                <a:latin typeface="Segoe UI Semibold"/>
              </a:rPr>
              <a:t>¿Cosecho ahora o espero?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3978" y="3840480"/>
            <a:ext cx="287517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300" i="0">
                <a:solidFill>
                  <a:srgbClr val="5A6B74"/>
                </a:solidFill>
                <a:latin typeface="Segoe UI"/>
              </a:rPr>
              <a:t>Una semana más puede significar un salto de talla y un mejor precio, o un riesgo innecesario. Hoy se decide sin números.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82076" y="2514600"/>
            <a:ext cx="3423818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2076" y="2514600"/>
            <a:ext cx="64008" cy="2514600"/>
          </a:xfrm>
          <a:prstGeom prst="rect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2116" y="2788920"/>
            <a:ext cx="287517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 i="0">
                <a:solidFill>
                  <a:srgbClr val="14A0B0"/>
                </a:solidFill>
                <a:latin typeface="Segoe UI Semi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2116" y="3154680"/>
            <a:ext cx="287517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800" i="0">
                <a:solidFill>
                  <a:srgbClr val="0D2B3E"/>
                </a:solidFill>
                <a:latin typeface="Segoe UI Semibold"/>
              </a:rPr>
              <a:t>El pleito del peso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2116" y="3840480"/>
            <a:ext cx="287517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300" i="0">
                <a:solidFill>
                  <a:srgbClr val="5A6B74"/>
                </a:solidFill>
                <a:latin typeface="Segoe UI"/>
              </a:rPr>
              <a:t>Peso enviado contra peso en planta, discutido entre dos partes interesadas y sin un tercero que mida.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5349240"/>
            <a:ext cx="10820095" cy="685800"/>
          </a:xfrm>
          <a:prstGeom prst="rect">
            <a:avLst/>
          </a:prstGeom>
          <a:solidFill>
            <a:srgbClr val="0D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349240"/>
            <a:ext cx="1008857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500" i="0">
                <a:solidFill>
                  <a:srgbClr val="FFFFFF"/>
                </a:solidFill>
                <a:latin typeface="Segoe UI Semibold"/>
              </a:rPr>
              <a:t>Trazul pone precios, proyección y verificación en la misma pantalla.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6245352"/>
            <a:ext cx="10820095" cy="9525"/>
          </a:xfrm>
          <a:prstGeom prst="rect">
            <a:avLst/>
          </a:prstGeom>
          <a:solidFill>
            <a:srgbClr val="DD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>
                <a:solidFill>
                  <a:srgbClr val="123E5C"/>
                </a:solidFill>
                <a:latin typeface="Segoe UI Semibold"/>
              </a:rPr>
              <a:t>tr</a:t>
            </a:r>
            <a:r>
              <a:rPr b="0" sz="1000" i="0">
                <a:solidFill>
                  <a:srgbClr val="14A0B0"/>
                </a:solidFill>
                <a:latin typeface="Segoe UI Semibold"/>
              </a:rPr>
              <a:t>azul</a:t>
            </a:r>
            <a:r>
              <a:rPr b="0" sz="1000" i="0">
                <a:solidFill>
                  <a:srgbClr val="5A6B74"/>
                </a:solidFill>
                <a:latin typeface="Segoe UI"/>
              </a:rPr>
              <a:t>  ·  Trazabilidad verificada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3895" y="6355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 i="0">
                <a:solidFill>
                  <a:srgbClr val="5A6B74"/>
                </a:solidFill>
                <a:latin typeface="Segoe UI"/>
              </a:rPr>
              <a:t>Perfil Camaronera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14A0B0"/>
                </a:solidFill>
                <a:latin typeface="Segoe UI Semibold"/>
              </a:rPr>
              <a:t>SU LUGAR EN LA CADENA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3200" i="0">
                <a:solidFill>
                  <a:srgbClr val="0D2B3E"/>
                </a:solidFill>
                <a:latin typeface="Segoe UI Semibold"/>
              </a:rPr>
              <a:t>Usted es </a:t>
            </a:r>
            <a:r>
              <a:rPr b="0" sz="3200" i="0">
                <a:solidFill>
                  <a:srgbClr val="14A0B0"/>
                </a:solidFill>
                <a:latin typeface="Segoe UI Semibold"/>
              </a:rPr>
              <a:t>el eje</a:t>
            </a:r>
            <a:r>
              <a:rPr b="0" sz="3200" i="0">
                <a:solidFill>
                  <a:srgbClr val="0D2B3E"/>
                </a:solidFill>
                <a:latin typeface="Segoe UI Semibold"/>
              </a:rPr>
              <a:t> del negocio.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500" i="0">
                <a:solidFill>
                  <a:srgbClr val="5A6B74"/>
                </a:solidFill>
                <a:latin typeface="Segoe UI"/>
              </a:rPr>
              <a:t>Compra larva al laboratorio y vende camarón adulto a la empacadora.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743200"/>
            <a:ext cx="2396413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9392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 spc="200">
                <a:solidFill>
                  <a:srgbClr val="14A0B0"/>
                </a:solidFill>
                <a:latin typeface="Segoe UI Semibold"/>
              </a:rPr>
              <a:t>ESLABÓN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01568"/>
            <a:ext cx="193921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800" i="0">
                <a:solidFill>
                  <a:srgbClr val="0D2B3E"/>
                </a:solidFill>
                <a:latin typeface="Segoe UI Semibold"/>
              </a:rPr>
              <a:t>Semillero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67328"/>
            <a:ext cx="193921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Nauplio. El origen genético y sanitario de toda la cadena.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73653" y="3575304"/>
            <a:ext cx="228600" cy="256032"/>
          </a:xfrm>
          <a:prstGeom prst="rightArrow">
            <a:avLst/>
          </a:prstGeom>
          <a:solidFill>
            <a:srgbClr val="14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93693" y="2743200"/>
            <a:ext cx="2396413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22293" y="3017520"/>
            <a:ext cx="19392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 spc="200">
                <a:solidFill>
                  <a:srgbClr val="14A0B0"/>
                </a:solidFill>
                <a:latin typeface="Segoe UI Semibold"/>
              </a:rPr>
              <a:t>ESLABÓN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2293" y="3401568"/>
            <a:ext cx="193921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800" i="0">
                <a:solidFill>
                  <a:srgbClr val="0D2B3E"/>
                </a:solidFill>
                <a:latin typeface="Segoe UI Semibold"/>
              </a:rPr>
              <a:t>Laboratorio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2293" y="3767328"/>
            <a:ext cx="193921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Maduración y larvicultura: larva y postlarva.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81547" y="3575304"/>
            <a:ext cx="228600" cy="256032"/>
          </a:xfrm>
          <a:prstGeom prst="rightArrow">
            <a:avLst/>
          </a:prstGeom>
          <a:solidFill>
            <a:srgbClr val="14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1587" y="2743200"/>
            <a:ext cx="2396413" cy="1920240"/>
          </a:xfrm>
          <a:prstGeom prst="rect">
            <a:avLst/>
          </a:prstGeom>
          <a:solidFill>
            <a:srgbClr val="0D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1587" y="2743200"/>
            <a:ext cx="2396413" cy="64008"/>
          </a:xfrm>
          <a:prstGeom prst="rect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0187" y="3017520"/>
            <a:ext cx="19392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 spc="200">
                <a:solidFill>
                  <a:srgbClr val="4FC7D6"/>
                </a:solidFill>
                <a:latin typeface="Segoe UI Semibold"/>
              </a:rPr>
              <a:t>USTED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0187" y="3401568"/>
            <a:ext cx="193921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800" i="0">
                <a:solidFill>
                  <a:srgbClr val="FFFFFF"/>
                </a:solidFill>
                <a:latin typeface="Segoe UI Semibold"/>
              </a:rPr>
              <a:t>Camaronera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0187" y="3767328"/>
            <a:ext cx="193921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0" sz="1200" i="0">
                <a:solidFill>
                  <a:srgbClr val="9FB4BD"/>
                </a:solidFill>
                <a:latin typeface="Segoe UI"/>
              </a:rPr>
              <a:t>Engorde en piscina hasta el camarón adulto.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89441" y="3575304"/>
            <a:ext cx="228600" cy="256032"/>
          </a:xfrm>
          <a:prstGeom prst="rightArrow">
            <a:avLst/>
          </a:prstGeom>
          <a:solidFill>
            <a:srgbClr val="14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09481" y="2743200"/>
            <a:ext cx="2396413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38081" y="3017520"/>
            <a:ext cx="19392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 spc="200">
                <a:solidFill>
                  <a:srgbClr val="14A0B0"/>
                </a:solidFill>
                <a:latin typeface="Segoe UI Semibold"/>
              </a:rPr>
              <a:t>ESLABÓN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8081" y="3401568"/>
            <a:ext cx="193921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800" i="0">
                <a:solidFill>
                  <a:srgbClr val="0D2B3E"/>
                </a:solidFill>
                <a:latin typeface="Segoe UI Semibold"/>
              </a:rPr>
              <a:t>Empacadora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38081" y="3767328"/>
            <a:ext cx="1939213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Proceso y exportación, con compra verificada.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7492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300" i="0">
                <a:solidFill>
                  <a:srgbClr val="5A6B74"/>
                </a:solidFill>
                <a:latin typeface="Segoe UI"/>
              </a:rPr>
              <a:t>En Trazul, su camarón adulto llega a las empacadoras de la plataforma, y su larva la elige entre laboratorios con certificados y calificaciones a la vista.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6245352"/>
            <a:ext cx="10820095" cy="9525"/>
          </a:xfrm>
          <a:prstGeom prst="rect">
            <a:avLst/>
          </a:prstGeom>
          <a:solidFill>
            <a:srgbClr val="DD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>
                <a:solidFill>
                  <a:srgbClr val="123E5C"/>
                </a:solidFill>
                <a:latin typeface="Segoe UI Semibold"/>
              </a:rPr>
              <a:t>tr</a:t>
            </a:r>
            <a:r>
              <a:rPr b="0" sz="1000" i="0">
                <a:solidFill>
                  <a:srgbClr val="14A0B0"/>
                </a:solidFill>
                <a:latin typeface="Segoe UI Semibold"/>
              </a:rPr>
              <a:t>azul</a:t>
            </a:r>
            <a:r>
              <a:rPr b="0" sz="1000" i="0">
                <a:solidFill>
                  <a:srgbClr val="5A6B74"/>
                </a:solidFill>
                <a:latin typeface="Segoe UI"/>
              </a:rPr>
              <a:t>  ·  Trazabilidad verificada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33895" y="6355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 i="0">
                <a:solidFill>
                  <a:srgbClr val="5A6B74"/>
                </a:solidFill>
                <a:latin typeface="Segoe UI"/>
              </a:rPr>
              <a:t>Perfil Camaronera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82296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4FC7D6"/>
                </a:solidFill>
                <a:latin typeface="Segoe UI Semibold"/>
              </a:rPr>
              <a:t>QUÉ ES TRAZUL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3400" i="0">
                <a:solidFill>
                  <a:srgbClr val="FFFFFF"/>
                </a:solidFill>
                <a:latin typeface="Segoe UI Semibold"/>
              </a:rPr>
              <a:t>Toda la cadena del camarón, del nauplio a la planta, con </a:t>
            </a:r>
            <a:r>
              <a:rPr b="0" sz="3400" i="0">
                <a:solidFill>
                  <a:srgbClr val="4FC7D6"/>
                </a:solidFill>
                <a:latin typeface="Segoe UI Semibold"/>
              </a:rPr>
              <a:t>trazabilidad verificada</a:t>
            </a:r>
            <a:r>
              <a:rPr b="0" sz="3400" i="0">
                <a:solidFill>
                  <a:srgbClr val="FFFFFF"/>
                </a:solidFill>
                <a:latin typeface="Segoe UI Semibold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69748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0" sz="1500" i="0">
                <a:solidFill>
                  <a:srgbClr val="9FB4BD"/>
                </a:solidFill>
                <a:latin typeface="Segoe UI"/>
              </a:rPr>
              <a:t>Un solo sistema en el que cada eslabón publica, compra y vende, y donde cada lote conserva su historia completa desde el origen.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3840480"/>
            <a:ext cx="3393338" cy="1920240"/>
          </a:xfrm>
          <a:prstGeom prst="rect">
            <a:avLst/>
          </a:prstGeom>
          <a:solidFill>
            <a:srgbClr val="12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3840480"/>
            <a:ext cx="3393338" cy="54864"/>
          </a:xfrm>
          <a:prstGeom prst="rect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114800"/>
            <a:ext cx="284469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600" i="0">
                <a:solidFill>
                  <a:srgbClr val="FFFFFF"/>
                </a:solidFill>
                <a:latin typeface="Segoe UI Semibold"/>
              </a:rPr>
              <a:t>Marketplace por eslabón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754880"/>
            <a:ext cx="284469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200" i="0">
                <a:solidFill>
                  <a:srgbClr val="C8D6DC"/>
                </a:solidFill>
                <a:latin typeface="Segoe UI"/>
              </a:rPr>
              <a:t>Cada perfil ve y compra solo lo que le corresponde: el semillero vende al laboratorio, el laboratorio a la camaronera y la camaronera a la empacadora.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99178" y="3840480"/>
            <a:ext cx="3393338" cy="1920240"/>
          </a:xfrm>
          <a:prstGeom prst="rect">
            <a:avLst/>
          </a:prstGeom>
          <a:solidFill>
            <a:srgbClr val="12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99178" y="3840480"/>
            <a:ext cx="3393338" cy="54864"/>
          </a:xfrm>
          <a:prstGeom prst="rect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3498" y="4114800"/>
            <a:ext cx="284469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600" i="0">
                <a:solidFill>
                  <a:srgbClr val="FFFFFF"/>
                </a:solidFill>
                <a:latin typeface="Segoe UI Semibold"/>
              </a:rPr>
              <a:t>Verificación independiente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3498" y="4754880"/>
            <a:ext cx="284469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200" i="0">
                <a:solidFill>
                  <a:srgbClr val="C8D6DC"/>
                </a:solidFill>
                <a:latin typeface="Segoe UI"/>
              </a:rPr>
              <a:t>Un verificador acreditado, que no trabaja para ninguna de las partes, mide el lote en campo y firma el informe con fotos, ubicación y hora.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12556" y="3840480"/>
            <a:ext cx="3393338" cy="1920240"/>
          </a:xfrm>
          <a:prstGeom prst="rect">
            <a:avLst/>
          </a:prstGeom>
          <a:solidFill>
            <a:srgbClr val="12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2556" y="3840480"/>
            <a:ext cx="3393338" cy="54864"/>
          </a:xfrm>
          <a:prstGeom prst="rect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6876" y="4114800"/>
            <a:ext cx="284469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1600" i="0">
                <a:solidFill>
                  <a:srgbClr val="FFFFFF"/>
                </a:solidFill>
                <a:latin typeface="Segoe UI Semibold"/>
              </a:rPr>
              <a:t>Certificado de trazabilidad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6876" y="4754880"/>
            <a:ext cx="284469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200" i="0">
                <a:solidFill>
                  <a:srgbClr val="C8D6DC"/>
                </a:solidFill>
                <a:latin typeface="Segoe UI"/>
              </a:rPr>
              <a:t>Cada compra genera un certificado con la cadena de custodia, los certificados sanitarios, la evolución del lote y el informe del verificador.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6245352"/>
            <a:ext cx="10820095" cy="9525"/>
          </a:xfrm>
          <a:prstGeom prst="rect">
            <a:avLst/>
          </a:prstGeom>
          <a:solidFill>
            <a:srgbClr val="2A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>
                <a:solidFill>
                  <a:srgbClr val="FFFFFF"/>
                </a:solidFill>
                <a:latin typeface="Segoe UI Semibold"/>
              </a:rPr>
              <a:t>tr</a:t>
            </a:r>
            <a:r>
              <a:rPr b="0" sz="1000" i="0">
                <a:solidFill>
                  <a:srgbClr val="4FC7D6"/>
                </a:solidFill>
                <a:latin typeface="Segoe UI Semibold"/>
              </a:rPr>
              <a:t>azul</a:t>
            </a:r>
            <a:r>
              <a:rPr b="0" sz="1000" i="0">
                <a:solidFill>
                  <a:srgbClr val="9FB4BD"/>
                </a:solidFill>
                <a:latin typeface="Segoe UI"/>
              </a:rPr>
              <a:t>  ·  Trazabilidad verificada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3895" y="6355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 i="0">
                <a:solidFill>
                  <a:srgbClr val="9FB4BD"/>
                </a:solidFill>
                <a:latin typeface="Segoe UI"/>
              </a:rPr>
              <a:t>Perfil Camaronera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14A0B0"/>
                </a:solidFill>
                <a:latin typeface="Segoe UI Semibold"/>
              </a:rPr>
              <a:t>PRECIO Y MERCADO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3200" i="0">
                <a:solidFill>
                  <a:srgbClr val="0D2B3E"/>
                </a:solidFill>
                <a:latin typeface="Segoe UI Semibold"/>
              </a:rPr>
              <a:t>Decida con los precios de </a:t>
            </a:r>
            <a:r>
              <a:rPr b="0" sz="3200" i="0">
                <a:solidFill>
                  <a:srgbClr val="14A0B0"/>
                </a:solidFill>
                <a:latin typeface="Segoe UI Semibold"/>
              </a:rPr>
              <a:t>todas las empacadoras</a:t>
            </a:r>
            <a:r>
              <a:rPr b="0" sz="3200" i="0">
                <a:solidFill>
                  <a:srgbClr val="0D2B3E"/>
                </a:solidFill>
                <a:latin typeface="Segoe UI Semibold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91640"/>
            <a:ext cx="3423818" cy="20802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" y="1965960"/>
            <a:ext cx="329184" cy="329184"/>
          </a:xfrm>
          <a:prstGeom prst="ellipse">
            <a:avLst/>
          </a:prstGeom>
          <a:solidFill>
            <a:srgbClr val="E6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100" i="0">
                <a:solidFill>
                  <a:srgbClr val="14A0B0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856232"/>
            <a:ext cx="246369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b="0" sz="1450" i="0">
                <a:solidFill>
                  <a:srgbClr val="0D2B3E"/>
                </a:solidFill>
                <a:latin typeface="Segoe UI Semibold"/>
              </a:rPr>
              <a:t>Listas de precios recibidas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60320"/>
            <a:ext cx="2875178" cy="1120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Vea las listas que las empacadoras le envían: talla por presentación y calidad, bonificaciones, forma de pago y ventana de despacho.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3938" y="1691640"/>
            <a:ext cx="3423818" cy="20802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58258" y="1965960"/>
            <a:ext cx="329184" cy="329184"/>
          </a:xfrm>
          <a:prstGeom prst="ellipse">
            <a:avLst/>
          </a:prstGeom>
          <a:solidFill>
            <a:srgbClr val="E6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58258" y="19659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100" i="0">
                <a:solidFill>
                  <a:srgbClr val="14A0B0"/>
                </a:solidFill>
                <a:latin typeface="Segoe UI Semibol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15458" y="1856232"/>
            <a:ext cx="246369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b="0" sz="1450" i="0">
                <a:solidFill>
                  <a:srgbClr val="0D2B3E"/>
                </a:solidFill>
                <a:latin typeface="Segoe UI Semibold"/>
              </a:rPr>
              <a:t>Comparador de empacadoras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8258" y="2560320"/>
            <a:ext cx="2875178" cy="1120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Qué paga cada empacadora por la misma talla, lado a lado, para elegir a quién ofertar.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2076" y="1691640"/>
            <a:ext cx="3423818" cy="20802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56396" y="1965960"/>
            <a:ext cx="329184" cy="329184"/>
          </a:xfrm>
          <a:prstGeom prst="ellipse">
            <a:avLst/>
          </a:prstGeom>
          <a:solidFill>
            <a:srgbClr val="E6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6396" y="19659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100" i="0">
                <a:solidFill>
                  <a:srgbClr val="14A0B0"/>
                </a:solidFill>
                <a:latin typeface="Segoe UI Semi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13596" y="1856232"/>
            <a:ext cx="246369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b="0" sz="1450" i="0">
                <a:solidFill>
                  <a:srgbClr val="0D2B3E"/>
                </a:solidFill>
                <a:latin typeface="Segoe UI Semibold"/>
              </a:rPr>
              <a:t>Mejor precio hoy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6396" y="2560320"/>
            <a:ext cx="2875178" cy="1120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Cada lote muestra el mejor y el segundo mejor precio vigente y el valor total estimado del lote.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000500"/>
            <a:ext cx="3423818" cy="20802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0120" y="4274820"/>
            <a:ext cx="329184" cy="329184"/>
          </a:xfrm>
          <a:prstGeom prst="ellipse">
            <a:avLst/>
          </a:prstGeom>
          <a:solidFill>
            <a:srgbClr val="E6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27482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100" i="0">
                <a:solidFill>
                  <a:srgbClr val="14A0B0"/>
                </a:solidFill>
                <a:latin typeface="Segoe UI Semibold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165092"/>
            <a:ext cx="246369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b="0" sz="1450" i="0">
                <a:solidFill>
                  <a:srgbClr val="0D2B3E"/>
                </a:solidFill>
                <a:latin typeface="Segoe UI Semibold"/>
              </a:rPr>
              <a:t>Precio sugerido al publicar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869180"/>
            <a:ext cx="2875178" cy="1120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Al publicar, el sistema le propone el precio según las listas vigentes para esa talla y presentación.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3938" y="4000500"/>
            <a:ext cx="3423818" cy="20802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58258" y="4274820"/>
            <a:ext cx="329184" cy="329184"/>
          </a:xfrm>
          <a:prstGeom prst="ellipse">
            <a:avLst/>
          </a:prstGeom>
          <a:solidFill>
            <a:srgbClr val="E6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58258" y="427482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100" i="0">
                <a:solidFill>
                  <a:srgbClr val="14A0B0"/>
                </a:solidFill>
                <a:latin typeface="Segoe UI Semibol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15458" y="4165092"/>
            <a:ext cx="246369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b="0" sz="1450" i="0">
                <a:solidFill>
                  <a:srgbClr val="0D2B3E"/>
                </a:solidFill>
                <a:latin typeface="Segoe UI Semibold"/>
              </a:rPr>
              <a:t>Avisos solo de lo que le importa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58258" y="4869180"/>
            <a:ext cx="2875178" cy="1120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Cuando una lista cambia, recibe un correo solo con las tallas que usted tiene en stock.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82076" y="4000500"/>
            <a:ext cx="3423818" cy="20802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356396" y="4274820"/>
            <a:ext cx="329184" cy="329184"/>
          </a:xfrm>
          <a:prstGeom prst="ellipse">
            <a:avLst/>
          </a:prstGeom>
          <a:solidFill>
            <a:srgbClr val="E6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56396" y="427482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100" i="0">
                <a:solidFill>
                  <a:srgbClr val="14A0B0"/>
                </a:solidFill>
                <a:latin typeface="Segoe UI Semibold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13596" y="4165092"/>
            <a:ext cx="246369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b="0" sz="1450" i="0">
                <a:solidFill>
                  <a:srgbClr val="0D2B3E"/>
                </a:solidFill>
                <a:latin typeface="Segoe UI Semibold"/>
              </a:rPr>
              <a:t>Confidencialidad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56396" y="4869180"/>
            <a:ext cx="2875178" cy="1120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Usted ve solo el precio que le ofrecen a usted. Ningún productor ve el precio de otro.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6245352"/>
            <a:ext cx="10820095" cy="9525"/>
          </a:xfrm>
          <a:prstGeom prst="rect">
            <a:avLst/>
          </a:prstGeom>
          <a:solidFill>
            <a:srgbClr val="DD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>
                <a:solidFill>
                  <a:srgbClr val="123E5C"/>
                </a:solidFill>
                <a:latin typeface="Segoe UI Semibold"/>
              </a:rPr>
              <a:t>tr</a:t>
            </a:r>
            <a:r>
              <a:rPr b="0" sz="1000" i="0">
                <a:solidFill>
                  <a:srgbClr val="14A0B0"/>
                </a:solidFill>
                <a:latin typeface="Segoe UI Semibold"/>
              </a:rPr>
              <a:t>azul</a:t>
            </a:r>
            <a:r>
              <a:rPr b="0" sz="1000" i="0">
                <a:solidFill>
                  <a:srgbClr val="5A6B74"/>
                </a:solidFill>
                <a:latin typeface="Segoe UI"/>
              </a:rPr>
              <a:t>  ·  Trazabilidad verificada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33895" y="6355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 i="0">
                <a:solidFill>
                  <a:srgbClr val="5A6B74"/>
                </a:solidFill>
                <a:latin typeface="Segoe UI"/>
              </a:rPr>
              <a:t>Perfil Camaronera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14A0B0"/>
                </a:solidFill>
                <a:latin typeface="Segoe UI Semibold"/>
              </a:rPr>
              <a:t>SIMULADOR DE COSECHA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3200" i="0">
                <a:solidFill>
                  <a:srgbClr val="0D2B3E"/>
                </a:solidFill>
                <a:latin typeface="Segoe UI Semibold"/>
              </a:rPr>
              <a:t>¿Cosecho ahora o </a:t>
            </a:r>
            <a:r>
              <a:rPr b="0" sz="3200" i="0">
                <a:solidFill>
                  <a:srgbClr val="14A0B0"/>
                </a:solidFill>
                <a:latin typeface="Segoe UI Semibold"/>
              </a:rPr>
              <a:t>espero una semana</a:t>
            </a:r>
            <a:r>
              <a:rPr b="0" sz="3200" i="0">
                <a:solidFill>
                  <a:srgbClr val="0D2B3E"/>
                </a:solidFill>
                <a:latin typeface="Segoe UI Semibold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700" i="0">
                <a:solidFill>
                  <a:srgbClr val="0D2B3E"/>
                </a:solidFill>
                <a:latin typeface="Segoe UI Semibold"/>
              </a:rPr>
              <a:t>Cómo responde el simulador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40280"/>
            <a:ext cx="5394960" cy="3749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0" sz="1300" i="0">
                <a:solidFill>
                  <a:srgbClr val="14A0B0"/>
                </a:solidFill>
                <a:latin typeface="Segoe UI"/>
              </a:rPr>
              <a:t>▸  </a:t>
            </a:r>
            <a:r>
              <a:rPr b="0" sz="1300" i="0">
                <a:solidFill>
                  <a:srgbClr val="0D2B3E"/>
                </a:solidFill>
                <a:latin typeface="Segoe UI Semibold"/>
              </a:rPr>
              <a:t>Crecimiento real</a:t>
            </a:r>
            <a:r>
              <a:rPr b="0" sz="1300" i="0">
                <a:solidFill>
                  <a:srgbClr val="5A6B74"/>
                </a:solidFill>
                <a:latin typeface="Segoe UI"/>
              </a:rPr>
              <a:t>  calculado con los pesajes de su propio lote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b="0" sz="1300" i="0">
                <a:solidFill>
                  <a:srgbClr val="14A0B0"/>
                </a:solidFill>
                <a:latin typeface="Segoe UI"/>
              </a:rPr>
              <a:t>▸  </a:t>
            </a:r>
            <a:r>
              <a:rPr b="0" sz="1300" i="0">
                <a:solidFill>
                  <a:srgbClr val="0D2B3E"/>
                </a:solidFill>
                <a:latin typeface="Segoe UI Semibold"/>
              </a:rPr>
              <a:t>Referencia del sector</a:t>
            </a:r>
            <a:r>
              <a:rPr b="0" sz="1300" i="0">
                <a:solidFill>
                  <a:srgbClr val="5A6B74"/>
                </a:solidFill>
                <a:latin typeface="Segoe UI"/>
              </a:rPr>
              <a:t>  si aún no hay pesajes suficientes (≈0,20 g/día)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b="0" sz="1300" i="0">
                <a:solidFill>
                  <a:srgbClr val="14A0B0"/>
                </a:solidFill>
                <a:latin typeface="Segoe UI"/>
              </a:rPr>
              <a:t>▸  </a:t>
            </a:r>
            <a:r>
              <a:rPr b="0" sz="1300" i="0">
                <a:solidFill>
                  <a:srgbClr val="0D2B3E"/>
                </a:solidFill>
                <a:latin typeface="Segoe UI Semibold"/>
              </a:rPr>
              <a:t>Proyección</a:t>
            </a:r>
            <a:r>
              <a:rPr b="0" sz="1300" i="0">
                <a:solidFill>
                  <a:srgbClr val="5A6B74"/>
                </a:solidFill>
                <a:latin typeface="Segoe UI"/>
              </a:rPr>
              <a:t>  a 0, 7, 15, 30 y 45 días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b="0" sz="1300" i="0">
                <a:solidFill>
                  <a:srgbClr val="14A0B0"/>
                </a:solidFill>
                <a:latin typeface="Segoe UI"/>
              </a:rPr>
              <a:t>▸  </a:t>
            </a:r>
            <a:r>
              <a:rPr b="0" sz="1300" i="0">
                <a:solidFill>
                  <a:srgbClr val="0D2B3E"/>
                </a:solidFill>
                <a:latin typeface="Segoe UI Semibold"/>
              </a:rPr>
              <a:t>Próximo salto de talla</a:t>
            </a:r>
            <a:r>
              <a:rPr b="0" sz="1300" i="0">
                <a:solidFill>
                  <a:srgbClr val="5A6B74"/>
                </a:solidFill>
                <a:latin typeface="Segoe UI"/>
              </a:rPr>
              <a:t>  y cuándo se alcanzaría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b="0" sz="1300" i="0">
                <a:solidFill>
                  <a:srgbClr val="14A0B0"/>
                </a:solidFill>
                <a:latin typeface="Segoe UI"/>
              </a:rPr>
              <a:t>▸  </a:t>
            </a:r>
            <a:r>
              <a:rPr b="0" sz="1300" i="0">
                <a:solidFill>
                  <a:srgbClr val="0D2B3E"/>
                </a:solidFill>
                <a:latin typeface="Segoe UI Semibold"/>
              </a:rPr>
              <a:t>Valor del lote</a:t>
            </a:r>
            <a:r>
              <a:rPr b="0" sz="1300" i="0">
                <a:solidFill>
                  <a:srgbClr val="5A6B74"/>
                </a:solidFill>
                <a:latin typeface="Segoe UI"/>
              </a:rPr>
              <a:t>  cruzado con el precio de cada empacadora, en entero o en cola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b="0" sz="1300" i="0">
                <a:solidFill>
                  <a:srgbClr val="14A0B0"/>
                </a:solidFill>
                <a:latin typeface="Segoe UI"/>
              </a:rPr>
              <a:t>▸  </a:t>
            </a:r>
            <a:r>
              <a:rPr b="0" sz="1300" i="0">
                <a:solidFill>
                  <a:srgbClr val="0D2B3E"/>
                </a:solidFill>
                <a:latin typeface="Segoe UI Semibold"/>
              </a:rPr>
              <a:t>Transparencia</a:t>
            </a:r>
            <a:r>
              <a:rPr b="0" sz="1300" i="0">
                <a:solidFill>
                  <a:srgbClr val="5A6B74"/>
                </a:solidFill>
                <a:latin typeface="Segoe UI"/>
              </a:rPr>
              <a:t>  siempre indica qué es medido y qué es estimado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37960" y="1737360"/>
            <a:ext cx="4967935" cy="4343400"/>
          </a:xfrm>
          <a:prstGeom prst="rect">
            <a:avLst/>
          </a:prstGeom>
          <a:solidFill>
            <a:srgbClr val="0D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2057400"/>
            <a:ext cx="4236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4FC7D6"/>
                </a:solidFill>
                <a:latin typeface="Segoe UI Semibold"/>
              </a:rPr>
              <a:t>EJEMPLO DE DECISIÓN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377440"/>
            <a:ext cx="4236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800" i="0">
                <a:solidFill>
                  <a:srgbClr val="FFFFFF"/>
                </a:solidFill>
                <a:latin typeface="Segoe UI Semibold"/>
              </a:rPr>
              <a:t>Un salto de talla puede cambiar el valor de toda la piscina.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3108960"/>
            <a:ext cx="4236415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0" sz="1250" i="0">
                <a:solidFill>
                  <a:srgbClr val="4FC7D6"/>
                </a:solidFill>
                <a:latin typeface="Segoe UI"/>
              </a:rPr>
              <a:t>▸  </a:t>
            </a:r>
            <a:r>
              <a:rPr b="0" sz="1250" i="0">
                <a:solidFill>
                  <a:srgbClr val="DCE6EA"/>
                </a:solidFill>
                <a:latin typeface="Segoe UI"/>
              </a:rPr>
              <a:t>El simulador le muestra el valor del lote hoy y en cada horizonte.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b="0" sz="1250" i="0">
                <a:solidFill>
                  <a:srgbClr val="4FC7D6"/>
                </a:solidFill>
                <a:latin typeface="Segoe UI"/>
              </a:rPr>
              <a:t>▸  </a:t>
            </a:r>
            <a:r>
              <a:rPr b="0" sz="1250" i="0">
                <a:solidFill>
                  <a:srgbClr val="DCE6EA"/>
                </a:solidFill>
                <a:latin typeface="Segoe UI"/>
              </a:rPr>
              <a:t>Indica cuándo el camarón pasaría a la siguiente talla.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b="0" sz="1250" i="0">
                <a:solidFill>
                  <a:srgbClr val="4FC7D6"/>
                </a:solidFill>
                <a:latin typeface="Segoe UI"/>
              </a:rPr>
              <a:t>▸  </a:t>
            </a:r>
            <a:r>
              <a:rPr b="0" sz="1250" i="0">
                <a:solidFill>
                  <a:srgbClr val="DCE6EA"/>
                </a:solidFill>
                <a:latin typeface="Segoe UI"/>
              </a:rPr>
              <a:t>Compara ese valor con lo que paga cada empacadora.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b="0" sz="1250" i="0">
                <a:solidFill>
                  <a:srgbClr val="4FC7D6"/>
                </a:solidFill>
                <a:latin typeface="Segoe UI"/>
              </a:rPr>
              <a:t>▸  </a:t>
            </a:r>
            <a:r>
              <a:rPr b="0" sz="1250" i="0">
                <a:solidFill>
                  <a:srgbClr val="DCE6EA"/>
                </a:solidFill>
                <a:latin typeface="Segoe UI"/>
              </a:rPr>
              <a:t>Usted decide con números, no por intuición.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5394960"/>
            <a:ext cx="4236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50" i="0">
                <a:solidFill>
                  <a:srgbClr val="4FC7D6"/>
                </a:solidFill>
                <a:latin typeface="Segoe UI Semibold"/>
              </a:rPr>
              <a:t>La decisión sigue siendo suya; ahora con datos.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6245352"/>
            <a:ext cx="10820095" cy="9525"/>
          </a:xfrm>
          <a:prstGeom prst="rect">
            <a:avLst/>
          </a:prstGeom>
          <a:solidFill>
            <a:srgbClr val="DD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>
                <a:solidFill>
                  <a:srgbClr val="123E5C"/>
                </a:solidFill>
                <a:latin typeface="Segoe UI Semibold"/>
              </a:rPr>
              <a:t>tr</a:t>
            </a:r>
            <a:r>
              <a:rPr b="0" sz="1000" i="0">
                <a:solidFill>
                  <a:srgbClr val="14A0B0"/>
                </a:solidFill>
                <a:latin typeface="Segoe UI Semibold"/>
              </a:rPr>
              <a:t>azul</a:t>
            </a:r>
            <a:r>
              <a:rPr b="0" sz="1000" i="0">
                <a:solidFill>
                  <a:srgbClr val="5A6B74"/>
                </a:solidFill>
                <a:latin typeface="Segoe UI"/>
              </a:rPr>
              <a:t>  ·  Trazabilidad verificada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33895" y="6355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 i="0">
                <a:solidFill>
                  <a:srgbClr val="5A6B74"/>
                </a:solidFill>
                <a:latin typeface="Segoe UI"/>
              </a:rPr>
              <a:t>Perfil Camaronera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14A0B0"/>
                </a:solidFill>
                <a:latin typeface="Segoe UI Semibold"/>
              </a:rPr>
              <a:t>OPERACIÓN DE LA FINCA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3200" i="0">
                <a:solidFill>
                  <a:srgbClr val="0D2B3E"/>
                </a:solidFill>
                <a:latin typeface="Segoe UI Semibold"/>
              </a:rPr>
              <a:t>Su finca, </a:t>
            </a:r>
            <a:r>
              <a:rPr b="0" sz="3200" i="0">
                <a:solidFill>
                  <a:srgbClr val="14A0B0"/>
                </a:solidFill>
                <a:latin typeface="Segoe UI Semibold"/>
              </a:rPr>
              <a:t>ordenada y trazada</a:t>
            </a:r>
            <a:r>
              <a:rPr b="0" sz="3200" i="0">
                <a:solidFill>
                  <a:srgbClr val="0D2B3E"/>
                </a:solidFill>
                <a:latin typeface="Segoe UI Semibold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91640"/>
            <a:ext cx="3423818" cy="20802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" y="1965960"/>
            <a:ext cx="329184" cy="329184"/>
          </a:xfrm>
          <a:prstGeom prst="ellipse">
            <a:avLst/>
          </a:prstGeom>
          <a:solidFill>
            <a:srgbClr val="E6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100" i="0">
                <a:solidFill>
                  <a:srgbClr val="14A0B0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856232"/>
            <a:ext cx="246369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b="0" sz="1450" i="0">
                <a:solidFill>
                  <a:srgbClr val="0D2B3E"/>
                </a:solidFill>
                <a:latin typeface="Segoe UI Semibold"/>
              </a:rPr>
              <a:t>Instalaciones y piscinas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60320"/>
            <a:ext cx="2875178" cy="1120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Registre sus piscinas por tipo (tierra, geomembrana, tanque, canal), capacidad y coordenadas GPS.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3938" y="1691640"/>
            <a:ext cx="3423818" cy="20802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58258" y="1965960"/>
            <a:ext cx="329184" cy="329184"/>
          </a:xfrm>
          <a:prstGeom prst="ellipse">
            <a:avLst/>
          </a:prstGeom>
          <a:solidFill>
            <a:srgbClr val="E6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58258" y="19659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100" i="0">
                <a:solidFill>
                  <a:srgbClr val="14A0B0"/>
                </a:solidFill>
                <a:latin typeface="Segoe UI Semibol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15458" y="1856232"/>
            <a:ext cx="246369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b="0" sz="1450" i="0">
                <a:solidFill>
                  <a:srgbClr val="0D2B3E"/>
                </a:solidFill>
                <a:latin typeface="Segoe UI Semibold"/>
              </a:rPr>
              <a:t>Siembra por piscina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8258" y="2560320"/>
            <a:ext cx="2875178" cy="1120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Asigne cada lote de larva a la piscina donde se siembra: el origen queda enlazado.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2076" y="1691640"/>
            <a:ext cx="3423818" cy="20802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56396" y="1965960"/>
            <a:ext cx="329184" cy="329184"/>
          </a:xfrm>
          <a:prstGeom prst="ellipse">
            <a:avLst/>
          </a:prstGeom>
          <a:solidFill>
            <a:srgbClr val="E6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6396" y="19659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100" i="0">
                <a:solidFill>
                  <a:srgbClr val="14A0B0"/>
                </a:solidFill>
                <a:latin typeface="Segoe UI Semi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13596" y="1856232"/>
            <a:ext cx="246369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b="0" sz="1450" i="0">
                <a:solidFill>
                  <a:srgbClr val="0D2B3E"/>
                </a:solidFill>
                <a:latin typeface="Segoe UI Semibold"/>
              </a:rPr>
              <a:t>Evolución automática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6396" y="2560320"/>
            <a:ext cx="2875178" cy="1120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Cada cambio de talla, supervivencia, sanidad o cantidad queda registrado en el historial del lote.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000500"/>
            <a:ext cx="3423818" cy="20802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0120" y="4274820"/>
            <a:ext cx="329184" cy="329184"/>
          </a:xfrm>
          <a:prstGeom prst="ellipse">
            <a:avLst/>
          </a:prstGeom>
          <a:solidFill>
            <a:srgbClr val="E6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27482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100" i="0">
                <a:solidFill>
                  <a:srgbClr val="14A0B0"/>
                </a:solidFill>
                <a:latin typeface="Segoe UI Semibold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165092"/>
            <a:ext cx="246369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b="0" sz="1450" i="0">
                <a:solidFill>
                  <a:srgbClr val="0D2B3E"/>
                </a:solidFill>
                <a:latin typeface="Segoe UI Semibold"/>
              </a:rPr>
              <a:t>Compra de larva con evidencia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869180"/>
            <a:ext cx="2875178" cy="1120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Elija laboratorio por certificados, supervivencia y calificación, con verificación opcional.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3938" y="4000500"/>
            <a:ext cx="3423818" cy="20802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58258" y="4274820"/>
            <a:ext cx="329184" cy="329184"/>
          </a:xfrm>
          <a:prstGeom prst="ellipse">
            <a:avLst/>
          </a:prstGeom>
          <a:solidFill>
            <a:srgbClr val="E6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58258" y="427482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100" i="0">
                <a:solidFill>
                  <a:srgbClr val="14A0B0"/>
                </a:solidFill>
                <a:latin typeface="Segoe UI Semibol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15458" y="4165092"/>
            <a:ext cx="246369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b="0" sz="1450" i="0">
                <a:solidFill>
                  <a:srgbClr val="0D2B3E"/>
                </a:solidFill>
                <a:latin typeface="Segoe UI Semibold"/>
              </a:rPr>
              <a:t>Ventas, facturas y reportes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58258" y="4869180"/>
            <a:ext cx="2875178" cy="1120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Historial de ventas, facturas, calendario de entregas y reportes de quién paga mejor cada talla.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82076" y="4000500"/>
            <a:ext cx="3423818" cy="20802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356396" y="4274820"/>
            <a:ext cx="329184" cy="329184"/>
          </a:xfrm>
          <a:prstGeom prst="ellipse">
            <a:avLst/>
          </a:prstGeom>
          <a:solidFill>
            <a:srgbClr val="E6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56396" y="427482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100" i="0">
                <a:solidFill>
                  <a:srgbClr val="14A0B0"/>
                </a:solidFill>
                <a:latin typeface="Segoe UI Semibold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13596" y="4165092"/>
            <a:ext cx="246369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b="0" sz="1450" i="0">
                <a:solidFill>
                  <a:srgbClr val="0D2B3E"/>
                </a:solidFill>
                <a:latin typeface="Segoe UI Semibold"/>
              </a:rPr>
              <a:t>Certificaciones visibles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56396" y="4869180"/>
            <a:ext cx="2875178" cy="1120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ASC, BAP, FDA, orgánica, exportación, GlobalG.A.P. y Agrocalidad, validadas y a la vista del comprador.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6245352"/>
            <a:ext cx="10820095" cy="9525"/>
          </a:xfrm>
          <a:prstGeom prst="rect">
            <a:avLst/>
          </a:prstGeom>
          <a:solidFill>
            <a:srgbClr val="DD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>
                <a:solidFill>
                  <a:srgbClr val="123E5C"/>
                </a:solidFill>
                <a:latin typeface="Segoe UI Semibold"/>
              </a:rPr>
              <a:t>tr</a:t>
            </a:r>
            <a:r>
              <a:rPr b="0" sz="1000" i="0">
                <a:solidFill>
                  <a:srgbClr val="14A0B0"/>
                </a:solidFill>
                <a:latin typeface="Segoe UI Semibold"/>
              </a:rPr>
              <a:t>azul</a:t>
            </a:r>
            <a:r>
              <a:rPr b="0" sz="1000" i="0">
                <a:solidFill>
                  <a:srgbClr val="5A6B74"/>
                </a:solidFill>
                <a:latin typeface="Segoe UI"/>
              </a:rPr>
              <a:t>  ·  Trazabilidad verificada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33895" y="6355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 i="0">
                <a:solidFill>
                  <a:srgbClr val="5A6B74"/>
                </a:solidFill>
                <a:latin typeface="Segoe UI"/>
              </a:rPr>
              <a:t>Perfil Camaronera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14A0B0"/>
                </a:solidFill>
                <a:latin typeface="Segoe UI Semibold"/>
              </a:rPr>
              <a:t>VERIFICACIÓN EN CAMPO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3200" i="0">
                <a:solidFill>
                  <a:srgbClr val="0D2B3E"/>
                </a:solidFill>
                <a:latin typeface="Segoe UI Semibold"/>
              </a:rPr>
              <a:t>Un tercero mide. </a:t>
            </a:r>
            <a:r>
              <a:rPr b="0" sz="3200" i="0">
                <a:solidFill>
                  <a:srgbClr val="14A0B0"/>
                </a:solidFill>
                <a:latin typeface="Segoe UI Semibold"/>
              </a:rPr>
              <a:t>Se acaba la discusión.</a:t>
            </a:r>
            <a:r>
              <a:rPr b="0" sz="3200" i="0">
                <a:solidFill>
                  <a:srgbClr val="0D2B3E"/>
                </a:solidFill>
                <a:latin typeface="Segoe UI Semibold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500" i="0">
                <a:solidFill>
                  <a:srgbClr val="5A6B74"/>
                </a:solidFill>
                <a:latin typeface="Segoe UI"/>
              </a:rPr>
              <a:t>Cada venta de camarón adulto pasa por un verificador acreditado antes de cerrarse.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7744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700" i="0">
                <a:solidFill>
                  <a:srgbClr val="0D2B3E"/>
                </a:solidFill>
                <a:latin typeface="Segoe UI Semibold"/>
              </a:rPr>
              <a:t>Los cinco análisis del verificador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80360"/>
            <a:ext cx="539496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0" sz="1300" i="0">
                <a:solidFill>
                  <a:srgbClr val="14A0B0"/>
                </a:solidFill>
                <a:latin typeface="Segoe UI"/>
              </a:rPr>
              <a:t>▸  </a:t>
            </a:r>
            <a:r>
              <a:rPr b="0" sz="1300" i="0">
                <a:solidFill>
                  <a:srgbClr val="0D2B3E"/>
                </a:solidFill>
                <a:latin typeface="Segoe UI Semibold"/>
              </a:rPr>
              <a:t>Peso</a:t>
            </a:r>
            <a:r>
              <a:rPr b="0" sz="1300" i="0">
                <a:solidFill>
                  <a:srgbClr val="5A6B74"/>
                </a:solidFill>
                <a:latin typeface="Segoe UI"/>
              </a:rPr>
              <a:t>  enviado, en planta, basura, sobrepeso y peso neto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b="0" sz="1300" i="0">
                <a:solidFill>
                  <a:srgbClr val="14A0B0"/>
                </a:solidFill>
                <a:latin typeface="Segoe UI"/>
              </a:rPr>
              <a:t>▸  </a:t>
            </a:r>
            <a:r>
              <a:rPr b="0" sz="1300" i="0">
                <a:solidFill>
                  <a:srgbClr val="0D2B3E"/>
                </a:solidFill>
                <a:latin typeface="Segoe UI Semibold"/>
              </a:rPr>
              <a:t>Cuerpo o cola</a:t>
            </a:r>
            <a:r>
              <a:rPr b="0" sz="1300" i="0">
                <a:solidFill>
                  <a:srgbClr val="5A6B74"/>
                </a:solidFill>
                <a:latin typeface="Segoe UI"/>
              </a:rPr>
              <a:t>  si coincide con lo publicado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b="0" sz="1300" i="0">
                <a:solidFill>
                  <a:srgbClr val="14A0B0"/>
                </a:solidFill>
                <a:latin typeface="Segoe UI"/>
              </a:rPr>
              <a:t>▸  </a:t>
            </a:r>
            <a:r>
              <a:rPr b="0" sz="1300" i="0">
                <a:solidFill>
                  <a:srgbClr val="0D2B3E"/>
                </a:solidFill>
                <a:latin typeface="Segoe UI Semibold"/>
              </a:rPr>
              <a:t>Metabisulfito</a:t>
            </a:r>
            <a:r>
              <a:rPr b="0" sz="1300" i="0">
                <a:solidFill>
                  <a:srgbClr val="5A6B74"/>
                </a:solidFill>
                <a:latin typeface="Segoe UI"/>
              </a:rPr>
              <a:t>  contra el límite: conforme o no conforme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b="0" sz="1300" i="0">
                <a:solidFill>
                  <a:srgbClr val="14A0B0"/>
                </a:solidFill>
                <a:latin typeface="Segoe UI"/>
              </a:rPr>
              <a:t>▸  </a:t>
            </a:r>
            <a:r>
              <a:rPr b="0" sz="1300" i="0">
                <a:solidFill>
                  <a:srgbClr val="0D2B3E"/>
                </a:solidFill>
                <a:latin typeface="Segoe UI Semibold"/>
              </a:rPr>
              <a:t>Clasificación</a:t>
            </a:r>
            <a:r>
              <a:rPr b="0" sz="1300" i="0">
                <a:solidFill>
                  <a:srgbClr val="5A6B74"/>
                </a:solidFill>
                <a:latin typeface="Segoe UI"/>
              </a:rPr>
              <a:t>  libras de clase A, B y C y rendimiento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b="0" sz="1300" i="0">
                <a:solidFill>
                  <a:srgbClr val="14A0B0"/>
                </a:solidFill>
                <a:latin typeface="Segoe UI"/>
              </a:rPr>
              <a:t>▸  </a:t>
            </a:r>
            <a:r>
              <a:rPr b="0" sz="1300" i="0">
                <a:solidFill>
                  <a:srgbClr val="0D2B3E"/>
                </a:solidFill>
                <a:latin typeface="Segoe UI Semibold"/>
              </a:rPr>
              <a:t>Sabor</a:t>
            </a:r>
            <a:r>
              <a:rPr b="0" sz="1300" i="0">
                <a:solidFill>
                  <a:srgbClr val="5A6B74"/>
                </a:solidFill>
                <a:latin typeface="Segoe UI"/>
              </a:rPr>
              <a:t>  criterios de cata, uno por uno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b="0" sz="1300" i="0">
                <a:solidFill>
                  <a:srgbClr val="14A0B0"/>
                </a:solidFill>
                <a:latin typeface="Segoe UI"/>
              </a:rPr>
              <a:t>▸  </a:t>
            </a:r>
            <a:r>
              <a:rPr b="0" sz="1300" i="0">
                <a:solidFill>
                  <a:srgbClr val="0D2B3E"/>
                </a:solidFill>
                <a:latin typeface="Segoe UI Semibold"/>
              </a:rPr>
              <a:t>Evidencia</a:t>
            </a:r>
            <a:r>
              <a:rPr b="0" sz="1300" i="0">
                <a:solidFill>
                  <a:srgbClr val="5A6B74"/>
                </a:solidFill>
                <a:latin typeface="Segoe UI"/>
              </a:rPr>
              <a:t>  gramaje, conteos, fotos, GPS y hora</a:t>
            </a:r>
          </a:p>
        </p:txBody>
      </p:sp>
      <p:sp>
        <p:nvSpPr>
          <p:cNvPr id="7" name="Rectangle 6"/>
          <p:cNvSpPr/>
          <p:nvPr/>
        </p:nvSpPr>
        <p:spPr>
          <a:xfrm>
            <a:off x="6537960" y="2377440"/>
            <a:ext cx="4967935" cy="3703320"/>
          </a:xfrm>
          <a:prstGeom prst="rect">
            <a:avLst/>
          </a:prstGeom>
          <a:solidFill>
            <a:srgbClr val="0D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2697480"/>
            <a:ext cx="4236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4FC7D6"/>
                </a:solidFill>
                <a:latin typeface="Segoe UI Semibold"/>
              </a:rPr>
              <a:t>POR QUÉ LE CONVIENE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3017520"/>
            <a:ext cx="4236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800" i="0">
                <a:solidFill>
                  <a:srgbClr val="FFFFFF"/>
                </a:solidFill>
                <a:latin typeface="Segoe UI Semibold"/>
              </a:rPr>
              <a:t>Si su camarón cumple, el informe le defiende.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3749040"/>
            <a:ext cx="4236415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0" sz="1250" i="0">
                <a:solidFill>
                  <a:srgbClr val="4FC7D6"/>
                </a:solidFill>
                <a:latin typeface="Segoe UI"/>
              </a:rPr>
              <a:t>▸  </a:t>
            </a:r>
            <a:r>
              <a:rPr b="0" sz="1250" i="0">
                <a:solidFill>
                  <a:srgbClr val="DCE6EA"/>
                </a:solidFill>
                <a:latin typeface="Segoe UI"/>
              </a:rPr>
              <a:t>El verificador no trabaja para ninguna de las partes.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b="0" sz="1250" i="0">
                <a:solidFill>
                  <a:srgbClr val="4FC7D6"/>
                </a:solidFill>
                <a:latin typeface="Segoe UI"/>
              </a:rPr>
              <a:t>▸  </a:t>
            </a:r>
            <a:r>
              <a:rPr b="0" sz="1250" i="0">
                <a:solidFill>
                  <a:srgbClr val="DCE6EA"/>
                </a:solidFill>
                <a:latin typeface="Segoe UI"/>
              </a:rPr>
              <a:t>Cobra lo mismo si el lote pasa o si se rechaza.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b="0" sz="1250" i="0">
                <a:solidFill>
                  <a:srgbClr val="4FC7D6"/>
                </a:solidFill>
                <a:latin typeface="Segoe UI"/>
              </a:rPr>
              <a:t>▸  </a:t>
            </a:r>
            <a:r>
              <a:rPr b="0" sz="1250" i="0">
                <a:solidFill>
                  <a:srgbClr val="DCE6EA"/>
                </a:solidFill>
                <a:latin typeface="Segoe UI"/>
              </a:rPr>
              <a:t>La cantidad vendida queda reservada mientras se verifica.</a:t>
            </a:r>
          </a:p>
          <a:p>
            <a:pPr algn="l">
              <a:lnSpc>
                <a:spcPct val="115000"/>
              </a:lnSpc>
              <a:spcBef>
                <a:spcPts val="700"/>
              </a:spcBef>
            </a:pPr>
            <a:r>
              <a:rPr b="0" sz="1250" i="0">
                <a:solidFill>
                  <a:srgbClr val="4FC7D6"/>
                </a:solidFill>
                <a:latin typeface="Segoe UI"/>
              </a:rPr>
              <a:t>▸  </a:t>
            </a:r>
            <a:r>
              <a:rPr b="0" sz="1250" i="0">
                <a:solidFill>
                  <a:srgbClr val="DCE6EA"/>
                </a:solidFill>
                <a:latin typeface="Segoe UI"/>
              </a:rPr>
              <a:t>Su rendimiento verificado se convierte en su carta de presentación ante las empacadoras.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5394960"/>
            <a:ext cx="4236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50" i="0">
                <a:solidFill>
                  <a:srgbClr val="4FC7D6"/>
                </a:solidFill>
                <a:latin typeface="Segoe UI Semibold"/>
              </a:rPr>
              <a:t>Buen camarón, bien medido, se vende mejor.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6245352"/>
            <a:ext cx="10820095" cy="9525"/>
          </a:xfrm>
          <a:prstGeom prst="rect">
            <a:avLst/>
          </a:prstGeom>
          <a:solidFill>
            <a:srgbClr val="DD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>
                <a:solidFill>
                  <a:srgbClr val="123E5C"/>
                </a:solidFill>
                <a:latin typeface="Segoe UI Semibold"/>
              </a:rPr>
              <a:t>tr</a:t>
            </a:r>
            <a:r>
              <a:rPr b="0" sz="1000" i="0">
                <a:solidFill>
                  <a:srgbClr val="14A0B0"/>
                </a:solidFill>
                <a:latin typeface="Segoe UI Semibold"/>
              </a:rPr>
              <a:t>azul</a:t>
            </a:r>
            <a:r>
              <a:rPr b="0" sz="1000" i="0">
                <a:solidFill>
                  <a:srgbClr val="5A6B74"/>
                </a:solidFill>
                <a:latin typeface="Segoe UI"/>
              </a:rPr>
              <a:t>  ·  Trazabilidad verificada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3895" y="6355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 i="0">
                <a:solidFill>
                  <a:srgbClr val="5A6B74"/>
                </a:solidFill>
                <a:latin typeface="Segoe UI"/>
              </a:rPr>
              <a:t>Perfil Camaronera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14A0B0"/>
                </a:solidFill>
                <a:latin typeface="Segoe UI Semibold"/>
              </a:rPr>
              <a:t>LA DIFERENCIA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3200" i="0">
                <a:solidFill>
                  <a:srgbClr val="0D2B3E"/>
                </a:solidFill>
                <a:latin typeface="Segoe UI Semibold"/>
              </a:rPr>
              <a:t>Vender con </a:t>
            </a:r>
            <a:r>
              <a:rPr b="0" sz="3200" i="0">
                <a:solidFill>
                  <a:srgbClr val="14A0B0"/>
                </a:solidFill>
                <a:latin typeface="Segoe UI Semibold"/>
              </a:rPr>
              <a:t>información completa</a:t>
            </a:r>
            <a:r>
              <a:rPr b="0" sz="3200" i="0">
                <a:solidFill>
                  <a:srgbClr val="0D2B3E"/>
                </a:solidFill>
                <a:latin typeface="Segoe UI Semibold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66160" y="173736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200">
                <a:solidFill>
                  <a:srgbClr val="5A6B74"/>
                </a:solidFill>
                <a:latin typeface="Segoe UI Semibold"/>
              </a:rPr>
              <a:t>HOY</a:t>
            </a:r>
          </a:p>
        </p:txBody>
      </p:sp>
      <p:sp>
        <p:nvSpPr>
          <p:cNvPr id="5" name="Rectangle 4"/>
          <p:cNvSpPr/>
          <p:nvPr/>
        </p:nvSpPr>
        <p:spPr>
          <a:xfrm>
            <a:off x="7452360" y="1664208"/>
            <a:ext cx="4053535" cy="457200"/>
          </a:xfrm>
          <a:prstGeom prst="rect">
            <a:avLst/>
          </a:prstGeom>
          <a:solidFill>
            <a:srgbClr val="0D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0" y="1737360"/>
            <a:ext cx="405353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200">
                <a:solidFill>
                  <a:srgbClr val="4FC7D6"/>
                </a:solidFill>
                <a:latin typeface="Segoe UI Semibold"/>
              </a:rPr>
              <a:t>CON TRAZUL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21408"/>
            <a:ext cx="67665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52360" y="2121408"/>
            <a:ext cx="4053535" cy="640080"/>
          </a:xfrm>
          <a:prstGeom prst="rect">
            <a:avLst/>
          </a:prstGeom>
          <a:solidFill>
            <a:srgbClr val="E6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21408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 i="0">
                <a:solidFill>
                  <a:srgbClr val="0D2B3E"/>
                </a:solidFill>
                <a:latin typeface="Segoe UI Semibold"/>
              </a:rPr>
              <a:t>Precio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121408"/>
            <a:ext cx="3749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Listas sueltas por WhatsApp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121408"/>
            <a:ext cx="368777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 i="0">
                <a:solidFill>
                  <a:srgbClr val="0D2B3E"/>
                </a:solidFill>
                <a:latin typeface="Segoe UI"/>
              </a:rPr>
              <a:t>Todas las listas y un comparador por talla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52360" y="2761488"/>
            <a:ext cx="4053535" cy="640080"/>
          </a:xfrm>
          <a:prstGeom prst="rect">
            <a:avLst/>
          </a:prstGeom>
          <a:solidFill>
            <a:srgbClr val="F0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761488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 i="0">
                <a:solidFill>
                  <a:srgbClr val="0D2B3E"/>
                </a:solidFill>
                <a:latin typeface="Segoe UI Semibold"/>
              </a:rPr>
              <a:t>Momento de cosecha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761488"/>
            <a:ext cx="3749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Se decide a ojo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761488"/>
            <a:ext cx="368777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 i="0">
                <a:solidFill>
                  <a:srgbClr val="0D2B3E"/>
                </a:solidFill>
                <a:latin typeface="Segoe UI"/>
              </a:rPr>
              <a:t>Simulador con proyección y precio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401568"/>
            <a:ext cx="67665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52360" y="3401568"/>
            <a:ext cx="4053535" cy="640080"/>
          </a:xfrm>
          <a:prstGeom prst="rect">
            <a:avLst/>
          </a:prstGeom>
          <a:solidFill>
            <a:srgbClr val="E6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401568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 i="0">
                <a:solidFill>
                  <a:srgbClr val="0D2B3E"/>
                </a:solidFill>
                <a:latin typeface="Segoe UI Semibold"/>
              </a:rPr>
              <a:t>Peso en planta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401568"/>
            <a:ext cx="3749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Discusión entre las partes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3401568"/>
            <a:ext cx="368777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 i="0">
                <a:solidFill>
                  <a:srgbClr val="0D2B3E"/>
                </a:solidFill>
                <a:latin typeface="Segoe UI"/>
              </a:rPr>
              <a:t>Verificador acreditado e informe firmado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52360" y="4041648"/>
            <a:ext cx="4053535" cy="640080"/>
          </a:xfrm>
          <a:prstGeom prst="rect">
            <a:avLst/>
          </a:prstGeom>
          <a:solidFill>
            <a:srgbClr val="F0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041648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 i="0">
                <a:solidFill>
                  <a:srgbClr val="0D2B3E"/>
                </a:solidFill>
                <a:latin typeface="Segoe UI Semibold"/>
              </a:rPr>
              <a:t>Reputación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4041648"/>
            <a:ext cx="3749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«Siempre cumplimos»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041648"/>
            <a:ext cx="368777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 i="0">
                <a:solidFill>
                  <a:srgbClr val="0D2B3E"/>
                </a:solidFill>
                <a:latin typeface="Segoe UI"/>
              </a:rPr>
              <a:t>Rendimiento verificado, lote por lote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4681728"/>
            <a:ext cx="67665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52360" y="4681728"/>
            <a:ext cx="4053535" cy="640080"/>
          </a:xfrm>
          <a:prstGeom prst="rect">
            <a:avLst/>
          </a:prstGeom>
          <a:solidFill>
            <a:srgbClr val="E6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681728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 i="0">
                <a:solidFill>
                  <a:srgbClr val="0D2B3E"/>
                </a:solidFill>
                <a:latin typeface="Segoe UI Semibold"/>
              </a:rPr>
              <a:t>Registro de la finca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4681728"/>
            <a:ext cx="3749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Cuadernos y hojas de cálculo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4681728"/>
            <a:ext cx="368777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 i="0">
                <a:solidFill>
                  <a:srgbClr val="0D2B3E"/>
                </a:solidFill>
                <a:latin typeface="Segoe UI"/>
              </a:rPr>
              <a:t>Piscinas, siembras y evolución en el sistema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52360" y="5321808"/>
            <a:ext cx="4053535" cy="640080"/>
          </a:xfrm>
          <a:prstGeom prst="rect">
            <a:avLst/>
          </a:prstGeom>
          <a:solidFill>
            <a:srgbClr val="F0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321808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 i="0">
                <a:solidFill>
                  <a:srgbClr val="0D2B3E"/>
                </a:solidFill>
                <a:latin typeface="Segoe UI Semibold"/>
              </a:rPr>
              <a:t>Documentación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5321808"/>
            <a:ext cx="3749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Se arma a mano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5321808"/>
            <a:ext cx="368777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200" i="0">
                <a:solidFill>
                  <a:srgbClr val="0D2B3E"/>
                </a:solidFill>
                <a:latin typeface="Segoe UI"/>
              </a:rPr>
              <a:t>Certificado de trazabilidad automático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6245352"/>
            <a:ext cx="10820095" cy="9525"/>
          </a:xfrm>
          <a:prstGeom prst="rect">
            <a:avLst/>
          </a:prstGeom>
          <a:solidFill>
            <a:srgbClr val="DD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>
                <a:solidFill>
                  <a:srgbClr val="123E5C"/>
                </a:solidFill>
                <a:latin typeface="Segoe UI Semibold"/>
              </a:rPr>
              <a:t>tr</a:t>
            </a:r>
            <a:r>
              <a:rPr b="0" sz="1000" i="0">
                <a:solidFill>
                  <a:srgbClr val="14A0B0"/>
                </a:solidFill>
                <a:latin typeface="Segoe UI Semibold"/>
              </a:rPr>
              <a:t>azul</a:t>
            </a:r>
            <a:r>
              <a:rPr b="0" sz="1000" i="0">
                <a:solidFill>
                  <a:srgbClr val="5A6B74"/>
                </a:solidFill>
                <a:latin typeface="Segoe UI"/>
              </a:rPr>
              <a:t>  ·  Trazabilidad verificada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33895" y="6355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 i="0">
                <a:solidFill>
                  <a:srgbClr val="5A6B74"/>
                </a:solidFill>
                <a:latin typeface="Segoe UI"/>
              </a:rPr>
              <a:t>Perfil Camaronera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48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14A0B0"/>
                </a:solidFill>
                <a:latin typeface="Segoe UI Semibold"/>
              </a:rPr>
              <a:t>CÓMO EMPEZAR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3200" i="0">
                <a:solidFill>
                  <a:srgbClr val="0D2B3E"/>
                </a:solidFill>
                <a:latin typeface="Segoe UI Semibold"/>
              </a:rPr>
              <a:t>Operando en </a:t>
            </a:r>
            <a:r>
              <a:rPr b="0" sz="3200" i="0">
                <a:solidFill>
                  <a:srgbClr val="14A0B0"/>
                </a:solidFill>
                <a:latin typeface="Segoe UI Semibold"/>
              </a:rPr>
              <a:t>cuatro pasos</a:t>
            </a:r>
            <a:r>
              <a:rPr b="0" sz="3200" i="0">
                <a:solidFill>
                  <a:srgbClr val="0D2B3E"/>
                </a:solidFill>
                <a:latin typeface="Segoe UI Semibold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1952586" y="2286000"/>
            <a:ext cx="8286521" cy="19050"/>
          </a:xfrm>
          <a:prstGeom prst="rect">
            <a:avLst/>
          </a:prstGeom>
          <a:solidFill>
            <a:srgbClr val="DD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78266" y="2011680"/>
            <a:ext cx="548640" cy="548640"/>
          </a:xfrm>
          <a:prstGeom prst="ellipse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78266" y="20116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700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43200"/>
            <a:ext cx="25335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000" i="0" spc="150">
                <a:solidFill>
                  <a:srgbClr val="14A0B0"/>
                </a:solidFill>
                <a:latin typeface="Segoe UI Semibold"/>
              </a:rPr>
              <a:t>PASO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17520"/>
            <a:ext cx="253357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500" i="0">
                <a:solidFill>
                  <a:srgbClr val="0D2B3E"/>
                </a:solidFill>
                <a:latin typeface="Segoe UI Semibold"/>
              </a:rPr>
              <a:t>Registro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11880"/>
            <a:ext cx="2442133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Cree su cuenta como camaronera con representante, capacidad y área.</a:t>
            </a:r>
          </a:p>
        </p:txBody>
      </p:sp>
      <p:sp>
        <p:nvSpPr>
          <p:cNvPr id="10" name="Oval 9"/>
          <p:cNvSpPr/>
          <p:nvPr/>
        </p:nvSpPr>
        <p:spPr>
          <a:xfrm>
            <a:off x="4440440" y="2011680"/>
            <a:ext cx="548640" cy="548640"/>
          </a:xfrm>
          <a:prstGeom prst="ellipse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0440" y="20116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700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973" y="2743200"/>
            <a:ext cx="25335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000" i="0" spc="150">
                <a:solidFill>
                  <a:srgbClr val="14A0B0"/>
                </a:solidFill>
                <a:latin typeface="Segoe UI Semibold"/>
              </a:rP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973" y="3017520"/>
            <a:ext cx="253357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500" i="0">
                <a:solidFill>
                  <a:srgbClr val="0D2B3E"/>
                </a:solidFill>
                <a:latin typeface="Segoe UI Semibold"/>
              </a:rPr>
              <a:t>Su finca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693" y="3611880"/>
            <a:ext cx="2442133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Registre sus instalaciones y piscinas, y cargue sus certificaciones.</a:t>
            </a:r>
          </a:p>
        </p:txBody>
      </p:sp>
      <p:sp>
        <p:nvSpPr>
          <p:cNvPr id="15" name="Oval 14"/>
          <p:cNvSpPr/>
          <p:nvPr/>
        </p:nvSpPr>
        <p:spPr>
          <a:xfrm>
            <a:off x="7202614" y="2011680"/>
            <a:ext cx="548640" cy="548640"/>
          </a:xfrm>
          <a:prstGeom prst="ellipse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2614" y="20116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700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0147" y="2743200"/>
            <a:ext cx="25335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000" i="0" spc="150">
                <a:solidFill>
                  <a:srgbClr val="14A0B0"/>
                </a:solidFill>
                <a:latin typeface="Segoe UI Semibold"/>
              </a:rPr>
              <a:t>PASO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0147" y="3017520"/>
            <a:ext cx="253357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500" i="0">
                <a:solidFill>
                  <a:srgbClr val="0D2B3E"/>
                </a:solidFill>
                <a:latin typeface="Segoe UI Semibold"/>
              </a:rPr>
              <a:t>Precios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5867" y="3611880"/>
            <a:ext cx="2442133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Reciba las listas de las empacadoras y use el simulador sobre sus lotes.</a:t>
            </a:r>
          </a:p>
        </p:txBody>
      </p:sp>
      <p:sp>
        <p:nvSpPr>
          <p:cNvPr id="20" name="Oval 19"/>
          <p:cNvSpPr/>
          <p:nvPr/>
        </p:nvSpPr>
        <p:spPr>
          <a:xfrm>
            <a:off x="9964788" y="2011680"/>
            <a:ext cx="548640" cy="548640"/>
          </a:xfrm>
          <a:prstGeom prst="ellipse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4788" y="20116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700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2321" y="2743200"/>
            <a:ext cx="25335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b="0" sz="1000" i="0" spc="150">
                <a:solidFill>
                  <a:srgbClr val="14A0B0"/>
                </a:solidFill>
                <a:latin typeface="Segoe UI Semibold"/>
              </a:rPr>
              <a:t>PASO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2321" y="3017520"/>
            <a:ext cx="253357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b="0" sz="1500" i="0">
                <a:solidFill>
                  <a:srgbClr val="0D2B3E"/>
                </a:solidFill>
                <a:latin typeface="Segoe UI Semibold"/>
              </a:rPr>
              <a:t>Venta verificada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18041" y="3611880"/>
            <a:ext cx="2442133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b="0" sz="1200" i="0">
                <a:solidFill>
                  <a:srgbClr val="5A6B74"/>
                </a:solidFill>
                <a:latin typeface="Segoe UI"/>
              </a:rPr>
              <a:t>Publique su camarón; la empacadora compra con verificación y usted recibe su informe.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5486400"/>
            <a:ext cx="10820095" cy="594360"/>
          </a:xfrm>
          <a:prstGeom prst="rect">
            <a:avLst/>
          </a:prstGeom>
          <a:solidFill>
            <a:srgbClr val="E6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5486400"/>
            <a:ext cx="64008" cy="594360"/>
          </a:xfrm>
          <a:prstGeom prst="rect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486400"/>
            <a:ext cx="1018001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300" i="0">
                <a:solidFill>
                  <a:srgbClr val="0D2B3E"/>
                </a:solidFill>
                <a:latin typeface="Segoe UI"/>
              </a:rPr>
              <a:t>No hay que instalar nada ni cambiar su sistema contable: todo funciona desde el navegador.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6245352"/>
            <a:ext cx="10820095" cy="9525"/>
          </a:xfrm>
          <a:prstGeom prst="rect">
            <a:avLst/>
          </a:prstGeom>
          <a:solidFill>
            <a:srgbClr val="DD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>
                <a:solidFill>
                  <a:srgbClr val="123E5C"/>
                </a:solidFill>
                <a:latin typeface="Segoe UI Semibold"/>
              </a:rPr>
              <a:t>tr</a:t>
            </a:r>
            <a:r>
              <a:rPr b="0" sz="1000" i="0">
                <a:solidFill>
                  <a:srgbClr val="14A0B0"/>
                </a:solidFill>
                <a:latin typeface="Segoe UI Semibold"/>
              </a:rPr>
              <a:t>azul</a:t>
            </a:r>
            <a:r>
              <a:rPr b="0" sz="1000" i="0">
                <a:solidFill>
                  <a:srgbClr val="5A6B74"/>
                </a:solidFill>
                <a:latin typeface="Segoe UI"/>
              </a:rPr>
              <a:t>  ·  Trazabilidad verificada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3895" y="6355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 i="0">
                <a:solidFill>
                  <a:srgbClr val="5A6B74"/>
                </a:solidFill>
                <a:latin typeface="Segoe UI"/>
              </a:rPr>
              <a:t>Perfil Camaronera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horizontal-oscu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40080"/>
            <a:ext cx="2471351" cy="685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182880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4FC7D6"/>
                </a:solidFill>
                <a:latin typeface="Segoe UI Semibold"/>
              </a:rPr>
              <a:t>HABLEMOS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94560"/>
            <a:ext cx="6583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0" sz="3600" i="0">
                <a:solidFill>
                  <a:srgbClr val="FFFFFF"/>
                </a:solidFill>
                <a:latin typeface="Segoe UI Semibold"/>
              </a:rPr>
              <a:t>Venda mejor, </a:t>
            </a:r>
            <a:r>
              <a:rPr b="0" sz="3600" i="0">
                <a:solidFill>
                  <a:srgbClr val="4FC7D6"/>
                </a:solidFill>
                <a:latin typeface="Segoe UI Semibold"/>
              </a:rPr>
              <a:t>con datos de su lado</a:t>
            </a:r>
            <a:r>
              <a:rPr b="0" sz="3600" i="0">
                <a:solidFill>
                  <a:srgbClr val="FFFFFF"/>
                </a:solidFill>
                <a:latin typeface="Segoe UI Semibold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11880"/>
            <a:ext cx="6217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0" sz="1500" i="0">
                <a:solidFill>
                  <a:srgbClr val="9FB4BD"/>
                </a:solidFill>
                <a:latin typeface="Segoe UI"/>
              </a:rPr>
              <a:t>Le mostramos sus precios, sus piscinas y el simulador funcionando con sus propios lotes.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4800600"/>
            <a:ext cx="6217920" cy="960120"/>
          </a:xfrm>
          <a:prstGeom prst="rect">
            <a:avLst/>
          </a:prstGeom>
          <a:solidFill>
            <a:srgbClr val="12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4800600"/>
            <a:ext cx="64008" cy="960120"/>
          </a:xfrm>
          <a:prstGeom prst="rect">
            <a:avLst/>
          </a:prstGeom>
          <a:solidFill>
            <a:srgbClr val="14A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892040"/>
            <a:ext cx="5760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600" i="0">
                <a:solidFill>
                  <a:srgbClr val="FFFFFF"/>
                </a:solidFill>
                <a:latin typeface="Segoe UI Semibold"/>
              </a:rPr>
              <a:t>Carlos Carballo  ·  098 549 5115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b="0" sz="1300" i="0">
                <a:solidFill>
                  <a:srgbClr val="4FC7D6"/>
                </a:solidFill>
                <a:latin typeface="Segoe UI"/>
              </a:rPr>
              <a:t>carlos260590_@hotmail.com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828800"/>
            <a:ext cx="3642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100" i="0" spc="300">
                <a:solidFill>
                  <a:srgbClr val="4FC7D6"/>
                </a:solidFill>
                <a:latin typeface="Segoe UI Semibold"/>
              </a:rPr>
              <a:t>LO QUE NO LE PEDIMOS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240280"/>
            <a:ext cx="3642055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b="0" sz="1400" i="0">
                <a:solidFill>
                  <a:srgbClr val="4FC7D6"/>
                </a:solidFill>
                <a:latin typeface="Segoe UI"/>
              </a:rPr>
              <a:t>—  </a:t>
            </a:r>
            <a:r>
              <a:rPr b="0" sz="1400" i="0">
                <a:solidFill>
                  <a:srgbClr val="FFFFFF"/>
                </a:solidFill>
                <a:latin typeface="Segoe UI"/>
              </a:rPr>
              <a:t>No instalar servidores, programas ni equipos.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b="0" sz="1400" i="0">
                <a:solidFill>
                  <a:srgbClr val="4FC7D6"/>
                </a:solidFill>
                <a:latin typeface="Segoe UI"/>
              </a:rPr>
              <a:t>—  </a:t>
            </a:r>
            <a:r>
              <a:rPr b="0" sz="1400" i="0">
                <a:solidFill>
                  <a:srgbClr val="FFFFFF"/>
                </a:solidFill>
                <a:latin typeface="Segoe UI"/>
              </a:rPr>
              <a:t>No cambiar su forma de trabajar ni su sistema contable.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b="0" sz="1400" i="0">
                <a:solidFill>
                  <a:srgbClr val="4FC7D6"/>
                </a:solidFill>
                <a:latin typeface="Segoe UI"/>
              </a:rPr>
              <a:t>—  </a:t>
            </a:r>
            <a:r>
              <a:rPr b="0" sz="1400" i="0">
                <a:solidFill>
                  <a:srgbClr val="FFFFFF"/>
                </a:solidFill>
                <a:latin typeface="Segoe UI"/>
              </a:rPr>
              <a:t>No migrar información ni vaciar históricos.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6245352"/>
            <a:ext cx="10820095" cy="9525"/>
          </a:xfrm>
          <a:prstGeom prst="rect">
            <a:avLst/>
          </a:prstGeom>
          <a:solidFill>
            <a:srgbClr val="2A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b="0" sz="1000" i="0">
                <a:solidFill>
                  <a:srgbClr val="FFFFFF"/>
                </a:solidFill>
                <a:latin typeface="Segoe UI Semibold"/>
              </a:rPr>
              <a:t>tr</a:t>
            </a:r>
            <a:r>
              <a:rPr b="0" sz="1000" i="0">
                <a:solidFill>
                  <a:srgbClr val="4FC7D6"/>
                </a:solidFill>
                <a:latin typeface="Segoe UI Semibold"/>
              </a:rPr>
              <a:t>azul</a:t>
            </a:r>
            <a:r>
              <a:rPr b="0" sz="1000" i="0">
                <a:solidFill>
                  <a:srgbClr val="9FB4BD"/>
                </a:solidFill>
                <a:latin typeface="Segoe UI"/>
              </a:rPr>
              <a:t>  ·  Trazabilidad verificada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33895" y="6355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b="0" sz="1000" i="0">
                <a:solidFill>
                  <a:srgbClr val="9FB4BD"/>
                </a:solidFill>
                <a:latin typeface="Segoe UI"/>
              </a:rPr>
              <a:t>Perfil Camaronera  ·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