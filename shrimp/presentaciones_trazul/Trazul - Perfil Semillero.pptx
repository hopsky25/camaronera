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59775" y="0"/>
            <a:ext cx="3931920" cy="685800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59775" y="0"/>
            <a:ext cx="73152" cy="68580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800865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48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PROPUESTA PARA SEMILLEROS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4000" i="0">
                <a:solidFill>
                  <a:srgbClr val="FFFFFF"/>
                </a:solidFill>
                <a:latin typeface="Segoe UI Semibold"/>
              </a:rPr>
              <a:t>Su nauplio es el origen de todo. </a:t>
            </a:r>
            <a:r>
              <a:rPr b="0" sz="4000" i="0">
                <a:solidFill>
                  <a:srgbClr val="4FC7D6"/>
                </a:solidFill>
                <a:latin typeface="Segoe UI Semibold"/>
              </a:rPr>
              <a:t>Que se note.</a:t>
            </a:r>
            <a:r>
              <a:rPr b="0" sz="4000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700" i="0">
                <a:solidFill>
                  <a:srgbClr val="9FB4BD"/>
                </a:solidFill>
                <a:latin typeface="Segoe UI"/>
              </a:rPr>
              <a:t>Trazul convierte la calidad genética y sanitaria de su semilla en un argumento de venta visible, verificable y que acompaña al lote en toda la cadena.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400">
                <a:solidFill>
                  <a:srgbClr val="4FC7D6"/>
                </a:solidFill>
                <a:latin typeface="Segoe UI Semibold"/>
              </a:rPr>
              <a:t>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2697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Semillero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6975" y="3474720"/>
            <a:ext cx="822960" cy="381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6975" y="37033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9FB4BD"/>
                </a:solidFill>
                <a:latin typeface="Segoe UI"/>
              </a:rPr>
              <a:t>Presentación ejecutiva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Semillero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Hoy, la calidad del origen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se pierde en el camino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Usted invierte en genética, bioseguridad y certificaciones, pero esa inversión rara vez llega documentada al comprador.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Certificados que nadie 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SPF, PCR y BAP viven en una carpeta. El laboratorio compra por referencia y no por evidencia.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3978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Se compite solo por precio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978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Sin un historial comprobable, un nauplio de alta calidad se compara con cualquier otro por el precio del millar.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El origen se diluye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Cuando el camarón llega a la planta, nadie recuerda de qué semillero salió ni cómo llegó.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49240"/>
            <a:ext cx="10820095" cy="6858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 i="0">
                <a:solidFill>
                  <a:srgbClr val="FFFFFF"/>
                </a:solidFill>
                <a:latin typeface="Segoe UI Semibold"/>
              </a:rPr>
              <a:t>Trazul hace que su nombre y sus certificados viajen con cada lote, hasta el final de la cadena.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SU LUGAR EN LA CADENA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Usted es el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primer eslabón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Todo lo que ocurre después se apoya en la calidad de su semilla.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2396413" cy="192024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2396413" cy="64008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4FC7D6"/>
                </a:solidFill>
                <a:latin typeface="Segoe UI Semibold"/>
              </a:rPr>
              <a:t>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Semillero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9FB4BD"/>
                </a:solidFill>
                <a:latin typeface="Segoe UI"/>
              </a:rPr>
              <a:t>Nauplio. El origen genético y sanitario de toda la cadena.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73653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693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2293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2293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Laboratorio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2293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Maduración y larvicultura: larva y postlarva.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1547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187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Camaronera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0187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Engorde en piscina hasta el camarón adulto.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89441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9481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8081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8081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Empacadora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8081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Proceso y exportación, con compra verificada.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En Trazul, lo que publica un semillero solo lo compra un laboratorio: su vitrina llega directamente al cliente que la necesita, sin ruido de otros eslabones.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QUÉ ES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Toda la cadena del camarón, del nauplio a la planta, con </a:t>
            </a:r>
            <a:r>
              <a:rPr b="0" sz="3400" i="0">
                <a:solidFill>
                  <a:srgbClr val="4FC7D6"/>
                </a:solidFill>
                <a:latin typeface="Segoe UI Semibold"/>
              </a:rPr>
              <a:t>trazabilidad verificada</a:t>
            </a:r>
            <a:r>
              <a:rPr b="0" sz="34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Un solo sistema en el que cada eslabón publica, compra y vende, y donde cada lote conserva su historia completa desde el origen.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Marketplace por eslabón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perfil ve y compra solo lo que le corresponde: el semillero vende al laboratorio, el laboratorio a la camaronera y la camaronera a la empacadora.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Verificación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Un verificador acreditado, que no trabaja para ninguna de las partes, mide el lote en campo y firma el informe con fotos, ubicación y hora.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556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556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Certificado de 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compra genera un certificado con la cadena de custodia, los certificados sanitarios, la evolución del lote y el informe del verificador.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Semillero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LO QUE PUEDE HACER EN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Una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vitrina profesional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para su semilla.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Todo desde el portal, sin instalar nada.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Publicar lotes con ficha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Especie, estadío, línea genética, tamaño, supervivencia, sanidad, precio por millar y disponibilidad.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8258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458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Certificados sanitarios visibles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SPF, PCR de WSSV y AHPND, BAP Hatchery y movilización, descargables desde cada lote y su tienda.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6396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3596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Tienda pública propia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Una página con su empresa, sus lotes, sus certificados y su calificación, lista para compartir con cualquier laboratorio.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Instalaciones y origen del lote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Registre sus instalaciones, piscinas y códigos de lote: cada venta nace con su origen documentado.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3938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8258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8258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5458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Ventas, planificación y calendario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8258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Historial de ventas, calendario de entregas y reportes en un solo lugar, con factura generada por el sistema.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2076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56396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6396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3596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Reputación verificable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396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Cada compra deja una calificación de 1 a 5 estrellas; los mejor calificados aparecen primero en el catálogo.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CREDIBILIDAD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Sus certificados,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validados y a la vista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Certificados que puede cargar para su perfil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53949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Registro de centro de producción de larvas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Autorización de funcionamiento acuícola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SPF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libre de patógenos específicos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PCR de WSSV y PCR de AHPND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BAP Hatchery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Certificado sanitario de movilización de larvas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GlobalG.A.P. y Agrocalidad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737360"/>
            <a:ext cx="4967935" cy="43434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CÓMO SE VALIDAN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7744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Cada certificado pasa por una revisión antes de mostrarse.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108960"/>
            <a:ext cx="423641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Se carga el documento con su número, emisor y vigencia.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El equipo de Trazul lo revisa y lo aprueba o lo rechaza.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Una vez aprobado, aparece en su tienda y en la ficha de cada lote.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La fecha de vencimiento queda registrada: sus clientes saben que está vigente.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Un laboratorio no tiene que creerle: puede comprobarlo.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VERIFICACIÓN EN LARVA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2800" i="0">
                <a:solidFill>
                  <a:srgbClr val="0D2B3E"/>
                </a:solidFill>
                <a:latin typeface="Segoe UI Semibold"/>
              </a:rPr>
              <a:t>Cuando el comprador quiere certeza, </a:t>
            </a:r>
            <a:r>
              <a:rPr b="0" sz="2800" i="0">
                <a:solidFill>
                  <a:srgbClr val="14A0B0"/>
                </a:solidFill>
                <a:latin typeface="Segoe UI Semibold"/>
              </a:rPr>
              <a:t>un tercero mide</a:t>
            </a:r>
            <a:r>
              <a:rPr b="0" sz="28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La verificación en larva es opcional: el laboratorio puede comprar directo o pedir un verificador acreditado.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Lo que mide el verificador en un lote de larva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Cantidad verificada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y su desvío frente a lo vendido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Supervivencia medida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frente a la publicada, en puntos porcentuales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Tamaño promedio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en miligramos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Estado sanitario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excelente, bueno, aceptable o rechazado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Fotos, ubicación y hora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de la inspección, dentro del informe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377440"/>
            <a:ext cx="4967935" cy="370332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PARA USTED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01752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Un informe favorable es la mejor publicidad.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236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El resultado queda asociado a su lote y a su nombre.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Si su semilla cumple lo publicado, el informe lo dice, firmado por un tercero.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Esa evidencia acompaña al lote en el certificado de trazabilidad de cada compra posterior.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La calidad deja de ser una promesa y pasa a ser un dato.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LA DIFERENCIA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Vender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con evidencia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cambia la conversación.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737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5A6B74"/>
                </a:solidFill>
                <a:latin typeface="Segoe UI Semibold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60" y="1664208"/>
            <a:ext cx="4053535" cy="4572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37360"/>
            <a:ext cx="4053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4FC7D6"/>
                </a:solidFill>
                <a:latin typeface="Segoe UI Semibold"/>
              </a:rPr>
              <a:t>CON TRAZUL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212140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Certificados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214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En una carpeta, se envían por correo cuando alguien los pide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214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Validados, vigentes y visibles en cada lote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76148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Llegar al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6148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Contactos de siempre y referencias de boca en boca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6148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Vitrina dirigida a los laboratorios de la plataforma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40156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Diferenciación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0156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Se compite por el precio del millar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40156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Se compite con genética, sanidad y calificación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404164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Origen del lote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4164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Se pierde al pasar de mano en mano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04164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Queda en la cadena de custodia hasta la planta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8172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468172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8172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Reputación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8172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Depende de lo que se diga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68172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Calificaciones de compras reales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532180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Administración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218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Facturas y registros por separado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3218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Venta, factura y trazabilidad en un solo flujo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CÓMO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Operando en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cuatro pasos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2586" y="2286000"/>
            <a:ext cx="8286521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8266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78266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Cree su cuenta como semillero con los datos de su empresa y fotos de sus instalaciones.</a:t>
            </a:r>
          </a:p>
        </p:txBody>
      </p:sp>
      <p:sp>
        <p:nvSpPr>
          <p:cNvPr id="10" name="Oval 9"/>
          <p:cNvSpPr/>
          <p:nvPr/>
        </p:nvSpPr>
        <p:spPr>
          <a:xfrm>
            <a:off x="4440440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4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Certificados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693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Cargue sus certificados sanitarios. Trazul los revisa y los aprueba.</a:t>
            </a:r>
          </a:p>
        </p:txBody>
      </p:sp>
      <p:sp>
        <p:nvSpPr>
          <p:cNvPr id="15" name="Oval 14"/>
          <p:cNvSpPr/>
          <p:nvPr/>
        </p:nvSpPr>
        <p:spPr>
          <a:xfrm>
            <a:off x="7202614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2614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Publicación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867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Publique sus lotes con ficha técnica, fotos y ventana de disponibilidad.</a:t>
            </a:r>
          </a:p>
        </p:txBody>
      </p:sp>
      <p:sp>
        <p:nvSpPr>
          <p:cNvPr id="20" name="Oval 19"/>
          <p:cNvSpPr/>
          <p:nvPr/>
        </p:nvSpPr>
        <p:spPr>
          <a:xfrm>
            <a:off x="9964788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788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2321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Venta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041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Los laboratorios compran, usted confirma y el sistema genera la factura y la trazabilidad.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No hay que instalar nada ni cambiar su sistema contable: todo funciona desde el navegador.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Semillero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471351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600" i="0">
                <a:solidFill>
                  <a:srgbClr val="FFFFFF"/>
                </a:solidFill>
                <a:latin typeface="Segoe UI Semibold"/>
              </a:rPr>
              <a:t>Que su semilla sea </a:t>
            </a:r>
            <a:r>
              <a:rPr b="0" sz="3600" i="0">
                <a:solidFill>
                  <a:srgbClr val="4FC7D6"/>
                </a:solidFill>
                <a:latin typeface="Segoe UI Semibold"/>
              </a:rPr>
              <a:t>la referencia</a:t>
            </a:r>
            <a:r>
              <a:rPr b="0" sz="3600" i="0">
                <a:solidFill>
                  <a:srgbClr val="FFFFFF"/>
                </a:solidFill>
                <a:latin typeface="Segoe UI Semibold"/>
              </a:rPr>
              <a:t> de la cadena.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Le mostramos la plataforma funcionando, con sus propios lotes y certificados.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6217920" cy="96012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Carlos Carballo  ·  098 549 5115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b="0" sz="1300" i="0">
                <a:solidFill>
                  <a:srgbClr val="4FC7D6"/>
                </a:solidFill>
                <a:latin typeface="Segoe UI"/>
              </a:rPr>
              <a:t>carlos260590_@hotmail.com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LO QUE NO LE PEDIMOS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40280"/>
            <a:ext cx="364205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instalar servidores, programas ni equipos.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cambiar su forma de trabajar ni su sistema contable.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migrar información ni vaciar históricos.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Semillero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