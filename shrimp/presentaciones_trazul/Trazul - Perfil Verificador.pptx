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59775" y="0"/>
            <a:ext cx="3931920" cy="6858000"/>
          </a:xfrm>
          <a:prstGeom prst="rect">
            <a:avLst/>
          </a:prstGeom>
          <a:solidFill>
            <a:srgbClr val="12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59775" y="0"/>
            <a:ext cx="73152" cy="685800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horizontal-o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0080"/>
            <a:ext cx="2800865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148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PROPUESTA PARA EMPRESAS VERIFICADORAS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60320"/>
            <a:ext cx="7315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4000" i="0">
                <a:solidFill>
                  <a:srgbClr val="FFFFFF"/>
                </a:solidFill>
                <a:latin typeface="Segoe UI Semibold"/>
              </a:rPr>
              <a:t>Su independencia, convertida en </a:t>
            </a:r>
            <a:r>
              <a:rPr b="0" sz="4000" i="0">
                <a:solidFill>
                  <a:srgbClr val="4FC7D6"/>
                </a:solidFill>
                <a:latin typeface="Segoe UI Semibold"/>
              </a:rPr>
              <a:t>flujo de trabajo.</a:t>
            </a:r>
            <a:r>
              <a:rPr b="0" sz="4000" i="0">
                <a:solidFill>
                  <a:srgbClr val="FFFFFF"/>
                </a:solidFill>
                <a:latin typeface="Segoe UI Semibold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54880"/>
            <a:ext cx="6949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700" i="0">
                <a:solidFill>
                  <a:srgbClr val="9FB4BD"/>
                </a:solidFill>
                <a:latin typeface="Segoe UI"/>
              </a:rPr>
              <a:t>Trazul le conecta con las empacadoras y laboratorios que necesitan una medición imparcial, y le da las herramientas para inspeccionar, informar y cobrar.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23774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400">
                <a:solidFill>
                  <a:srgbClr val="4FC7D6"/>
                </a:solidFill>
                <a:latin typeface="Segoe UI Semibold"/>
              </a:rPr>
              <a:t>PERFIL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6975" y="269748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400" i="0">
                <a:solidFill>
                  <a:srgbClr val="FFFFFF"/>
                </a:solidFill>
                <a:latin typeface="Segoe UI Semibold"/>
              </a:rPr>
              <a:t>Verificador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6975" y="3474720"/>
            <a:ext cx="822960" cy="3810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6975" y="370332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9FB4BD"/>
                </a:solidFill>
                <a:latin typeface="Segoe UI"/>
              </a:rPr>
              <a:t>Presentación ejecutiva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2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FFFFFF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4FC7D6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9FB4BD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9FB4BD"/>
                </a:solidFill>
                <a:latin typeface="Segoe UI"/>
              </a:rPr>
              <a:t>Perfil Verificador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EL PUNTO DE PARTIDA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2800" i="0">
                <a:solidFill>
                  <a:srgbClr val="0D2B3E"/>
                </a:solidFill>
                <a:latin typeface="Segoe UI Semibold"/>
              </a:rPr>
              <a:t>La verificación independiente aún </a:t>
            </a:r>
            <a:r>
              <a:rPr b="0" sz="2800" i="0">
                <a:solidFill>
                  <a:srgbClr val="14A0B0"/>
                </a:solidFill>
                <a:latin typeface="Segoe UI Semibold"/>
              </a:rPr>
              <a:t>no tiene un canal</a:t>
            </a:r>
            <a:r>
              <a:rPr b="0" sz="2800" i="0">
                <a:solidFill>
                  <a:srgbClr val="0D2B3E"/>
                </a:solidFill>
                <a:latin typeface="Segoe UI Semibold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500" i="0">
                <a:solidFill>
                  <a:srgbClr val="5A6B74"/>
                </a:solidFill>
                <a:latin typeface="Segoe UI"/>
              </a:rPr>
              <a:t>El mercado necesita un tercero que mida, pero hoy ese trabajo se consigue y se gestiona de forma informal.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514600"/>
            <a:ext cx="342381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514600"/>
            <a:ext cx="64008" cy="251460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28751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14A0B0"/>
                </a:solidFill>
                <a:latin typeface="Segoe UI Semi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28751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Demanda dispersa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87517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300" i="0">
                <a:solidFill>
                  <a:srgbClr val="5A6B74"/>
                </a:solidFill>
                <a:latin typeface="Segoe UI"/>
              </a:rPr>
              <a:t>Cada inspección se consigue por contacto directo. No hay un lugar donde los compradores encuentren verificadores acreditados.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3938" y="2514600"/>
            <a:ext cx="342381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3938" y="2514600"/>
            <a:ext cx="64008" cy="251460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3978" y="2788920"/>
            <a:ext cx="28751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14A0B0"/>
                </a:solidFill>
                <a:latin typeface="Segoe UI Semi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3978" y="3154680"/>
            <a:ext cx="28751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Informes a mano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3978" y="3840480"/>
            <a:ext cx="287517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300" i="0">
                <a:solidFill>
                  <a:srgbClr val="5A6B74"/>
                </a:solidFill>
                <a:latin typeface="Segoe UI"/>
              </a:rPr>
              <a:t>Los partes se arman en papel o en mensajes de WhatsApp, con cálculos manuales y errores de transcripción.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2076" y="2514600"/>
            <a:ext cx="342381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2076" y="2514600"/>
            <a:ext cx="64008" cy="251460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2116" y="2788920"/>
            <a:ext cx="28751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14A0B0"/>
                </a:solidFill>
                <a:latin typeface="Segoe UI Semi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2116" y="3154680"/>
            <a:ext cx="28751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Cobro incierto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2116" y="3840480"/>
            <a:ext cx="287517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300" i="0">
                <a:solidFill>
                  <a:srgbClr val="5A6B74"/>
                </a:solidFill>
                <a:latin typeface="Segoe UI"/>
              </a:rPr>
              <a:t>Cobrar una inspección, sobre todo si el resultado es desfavorable, depende de la buena voluntad de las partes.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349240"/>
            <a:ext cx="10820095" cy="685800"/>
          </a:xfrm>
          <a:prstGeom prst="rect">
            <a:avLst/>
          </a:prstGeom>
          <a:solidFill>
            <a:srgbClr val="0D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349240"/>
            <a:ext cx="1008857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500" i="0">
                <a:solidFill>
                  <a:srgbClr val="FFFFFF"/>
                </a:solidFill>
                <a:latin typeface="Segoe UI Semibold"/>
              </a:rPr>
              <a:t>Trazul le trae la demanda, estructura el informe y asegura el cobro.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Verificador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SU LUGAR EN LA CADENA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2800" i="0">
                <a:solidFill>
                  <a:srgbClr val="0D2B3E"/>
                </a:solidFill>
                <a:latin typeface="Segoe UI Semibold"/>
              </a:rPr>
              <a:t>Usted no es un eslabón: es </a:t>
            </a:r>
            <a:r>
              <a:rPr b="0" sz="2800" i="0">
                <a:solidFill>
                  <a:srgbClr val="14A0B0"/>
                </a:solidFill>
                <a:latin typeface="Segoe UI Semibold"/>
              </a:rPr>
              <a:t>la garantía</a:t>
            </a:r>
            <a:r>
              <a:rPr b="0" sz="2800" i="0">
                <a:solidFill>
                  <a:srgbClr val="0D2B3E"/>
                </a:solidFill>
                <a:latin typeface="Segoe UI Semibold"/>
              </a:rPr>
              <a:t> entre ellos.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500" i="0">
                <a:solidFill>
                  <a:srgbClr val="5A6B74"/>
                </a:solidFill>
                <a:latin typeface="Segoe UI"/>
              </a:rPr>
              <a:t>El verificador inspecciona las compras entre eslabones sin trabajar para ninguna de las partes.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743200"/>
            <a:ext cx="2396413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9392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 spc="200">
                <a:solidFill>
                  <a:srgbClr val="14A0B0"/>
                </a:solidFill>
                <a:latin typeface="Segoe UI Semibold"/>
              </a:rPr>
              <a:t>ESLABÓN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01568"/>
            <a:ext cx="193921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Semillero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67328"/>
            <a:ext cx="193921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Nauplio. El origen genético y sanitario de toda la cadena.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73653" y="3575304"/>
            <a:ext cx="228600" cy="256032"/>
          </a:xfrm>
          <a:prstGeom prst="rightArrow">
            <a:avLst/>
          </a:prstGeom>
          <a:solidFill>
            <a:srgbClr val="14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93693" y="2743200"/>
            <a:ext cx="2396413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2293" y="3017520"/>
            <a:ext cx="19392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 spc="200">
                <a:solidFill>
                  <a:srgbClr val="14A0B0"/>
                </a:solidFill>
                <a:latin typeface="Segoe UI Semibold"/>
              </a:rPr>
              <a:t>ESLABÓN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2293" y="3401568"/>
            <a:ext cx="193921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Laboratorio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2293" y="3767328"/>
            <a:ext cx="193921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Maduración y larvicultura: larva y postlarva.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81547" y="3575304"/>
            <a:ext cx="228600" cy="256032"/>
          </a:xfrm>
          <a:prstGeom prst="rightArrow">
            <a:avLst/>
          </a:prstGeom>
          <a:solidFill>
            <a:srgbClr val="14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1587" y="2743200"/>
            <a:ext cx="2396413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0187" y="3017520"/>
            <a:ext cx="19392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 spc="200">
                <a:solidFill>
                  <a:srgbClr val="14A0B0"/>
                </a:solidFill>
                <a:latin typeface="Segoe UI Semibold"/>
              </a:rPr>
              <a:t>ESLABÓN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0187" y="3401568"/>
            <a:ext cx="193921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Camaronera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0187" y="3767328"/>
            <a:ext cx="193921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Engorde en piscina hasta el camarón adulto.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789441" y="3575304"/>
            <a:ext cx="228600" cy="256032"/>
          </a:xfrm>
          <a:prstGeom prst="rightArrow">
            <a:avLst/>
          </a:prstGeom>
          <a:solidFill>
            <a:srgbClr val="14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09481" y="2743200"/>
            <a:ext cx="2396413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8081" y="3017520"/>
            <a:ext cx="19392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 spc="200">
                <a:solidFill>
                  <a:srgbClr val="14A0B0"/>
                </a:solidFill>
                <a:latin typeface="Segoe UI Semibold"/>
              </a:rPr>
              <a:t>ESLABÓN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8081" y="3401568"/>
            <a:ext cx="193921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Empacadora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8081" y="3767328"/>
            <a:ext cx="193921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Proceso y exportación, con compra verificada.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074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300" i="0">
                <a:solidFill>
                  <a:srgbClr val="5A6B74"/>
                </a:solidFill>
                <a:latin typeface="Segoe UI"/>
              </a:rPr>
              <a:t>Cada venta de camarón adulto a una empacadora pasa obligatoriamente por un verificador. En larva, el comprador puede solicitarlo. El sistema impide que el verificador sea comprador o vendedor de la operación.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Verificador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2296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QUÉ ES TRAZUL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3400" i="0">
                <a:solidFill>
                  <a:srgbClr val="FFFFFF"/>
                </a:solidFill>
                <a:latin typeface="Segoe UI Semibold"/>
              </a:rPr>
              <a:t>Toda la cadena del camarón, del nauplio a la planta, con </a:t>
            </a:r>
            <a:r>
              <a:rPr b="0" sz="3400" i="0">
                <a:solidFill>
                  <a:srgbClr val="4FC7D6"/>
                </a:solidFill>
                <a:latin typeface="Segoe UI Semibold"/>
              </a:rPr>
              <a:t>trazabilidad verificada</a:t>
            </a:r>
            <a:r>
              <a:rPr b="0" sz="3400" i="0">
                <a:solidFill>
                  <a:srgbClr val="FFFFFF"/>
                </a:solidFill>
                <a:latin typeface="Segoe UI Semibold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9748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500" i="0">
                <a:solidFill>
                  <a:srgbClr val="9FB4BD"/>
                </a:solidFill>
                <a:latin typeface="Segoe UI"/>
              </a:rPr>
              <a:t>Un solo sistema en el que cada eslabón publica, compra y vende, y donde cada lote conserva su historia completa desde el origen.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840480"/>
            <a:ext cx="3393338" cy="1920240"/>
          </a:xfrm>
          <a:prstGeom prst="rect">
            <a:avLst/>
          </a:prstGeom>
          <a:solidFill>
            <a:srgbClr val="12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3840480"/>
            <a:ext cx="3393338" cy="54864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114800"/>
            <a:ext cx="28446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 i="0">
                <a:solidFill>
                  <a:srgbClr val="FFFFFF"/>
                </a:solidFill>
                <a:latin typeface="Segoe UI Semibold"/>
              </a:rPr>
              <a:t>Marketplace por eslabón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754880"/>
            <a:ext cx="28446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C8D6DC"/>
                </a:solidFill>
                <a:latin typeface="Segoe UI"/>
              </a:rPr>
              <a:t>Cada perfil ve y compra solo lo que le corresponde: el semillero vende al laboratorio, el laboratorio a la camaronera y la camaronera a la empacadora.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9178" y="3840480"/>
            <a:ext cx="3393338" cy="1920240"/>
          </a:xfrm>
          <a:prstGeom prst="rect">
            <a:avLst/>
          </a:prstGeom>
          <a:solidFill>
            <a:srgbClr val="12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9178" y="3840480"/>
            <a:ext cx="3393338" cy="54864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3498" y="4114800"/>
            <a:ext cx="28446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 i="0">
                <a:solidFill>
                  <a:srgbClr val="FFFFFF"/>
                </a:solidFill>
                <a:latin typeface="Segoe UI Semibold"/>
              </a:rPr>
              <a:t>Verificación independiente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4754880"/>
            <a:ext cx="28446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C8D6DC"/>
                </a:solidFill>
                <a:latin typeface="Segoe UI"/>
              </a:rPr>
              <a:t>Un verificador acreditado, que no trabaja para ninguna de las partes, mide el lote en campo y firma el informe con fotos, ubicación y hora.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2556" y="3840480"/>
            <a:ext cx="3393338" cy="1920240"/>
          </a:xfrm>
          <a:prstGeom prst="rect">
            <a:avLst/>
          </a:prstGeom>
          <a:solidFill>
            <a:srgbClr val="12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2556" y="3840480"/>
            <a:ext cx="3393338" cy="54864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4114800"/>
            <a:ext cx="28446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 i="0">
                <a:solidFill>
                  <a:srgbClr val="FFFFFF"/>
                </a:solidFill>
                <a:latin typeface="Segoe UI Semibold"/>
              </a:rPr>
              <a:t>Certificado de trazabilidad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4754880"/>
            <a:ext cx="28446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C8D6DC"/>
                </a:solidFill>
                <a:latin typeface="Segoe UI"/>
              </a:rPr>
              <a:t>Cada compra genera un certificado con la cadena de custodia, los certificados sanitarios, la evolución del lote y el informe del verificador.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2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FFFFFF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4FC7D6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9FB4BD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9FB4BD"/>
                </a:solidFill>
                <a:latin typeface="Segoe UI"/>
              </a:rPr>
              <a:t>Perfil Verificador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LO QUE PUEDE HACER EN TRAZUL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Una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plataforma propia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 para su empresa.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500" i="0">
                <a:solidFill>
                  <a:srgbClr val="5A6B74"/>
                </a:solidFill>
                <a:latin typeface="Segoe UI"/>
              </a:rPr>
              <a:t>Con sitio de acceso dedicado a verificadores.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331720"/>
            <a:ext cx="3423818" cy="17602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60604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49631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Bandeja de verificaciones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00400"/>
            <a:ext cx="2875178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Pendientes, en campo, por dictaminar y verificadas, organizadas por estado.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3938" y="2331720"/>
            <a:ext cx="3423818" cy="17602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58258" y="260604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8258" y="260604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5458" y="249631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Su equipo de técnicos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8258" y="3200400"/>
            <a:ext cx="2875178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Dé de alta a sus técnicos con su cargo y asigne cada inspección. Cada técnico ve solo lo suyo.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2076" y="2331720"/>
            <a:ext cx="3423818" cy="17602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56396" y="260604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6396" y="260604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3596" y="249631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Informe guiado en campo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396" y="3200400"/>
            <a:ext cx="2875178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Pesos, clases, metabisulfito, sabor, gramajes y conteos, con fotos y ubicación GPS.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320540"/>
            <a:ext cx="3423818" cy="17602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459486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5948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48513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Cálculos automáticos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189220"/>
            <a:ext cx="2875178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Rendimientos, sobrepeso, factor y porcentajes por clase, sin calculadora ni errores.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3938" y="4320540"/>
            <a:ext cx="3423818" cy="17602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58258" y="459486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58258" y="45948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15458" y="448513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Parte en formato WhatsApp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58258" y="5189220"/>
            <a:ext cx="2875178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El mismo formato que el sector ya usa, generado automáticamente a partir del informe.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82076" y="4320540"/>
            <a:ext cx="3423818" cy="17602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56396" y="459486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56396" y="45948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13596" y="448513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Reportes de su empresa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6396" y="5189220"/>
            <a:ext cx="2875178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Verificaciones totales y abiertas, tasa de aprobación, rendimiento medio y honorarios.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Verificador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EL FLUJO DE UNA VERIFICACIÓN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De la orden al veredicto,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en un solo sistema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1676369" y="2286000"/>
            <a:ext cx="8838956" cy="19050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02049" y="201168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02049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19811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RECEPCIÓN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19811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Llega la orden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188969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El comprador le elige y la orden aparece en su bandeja.</a:t>
            </a:r>
          </a:p>
        </p:txBody>
      </p:sp>
      <p:sp>
        <p:nvSpPr>
          <p:cNvPr id="10" name="Oval 9"/>
          <p:cNvSpPr/>
          <p:nvPr/>
        </p:nvSpPr>
        <p:spPr>
          <a:xfrm>
            <a:off x="3611788" y="201168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788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539" y="2743200"/>
            <a:ext cx="19811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ASIGNACIÓN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539" y="3017520"/>
            <a:ext cx="19811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Asigna un técnico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1259" y="3611880"/>
            <a:ext cx="188969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Su administrador designa al técnico de su equipo.</a:t>
            </a:r>
          </a:p>
        </p:txBody>
      </p:sp>
      <p:sp>
        <p:nvSpPr>
          <p:cNvPr id="15" name="Oval 14"/>
          <p:cNvSpPr/>
          <p:nvPr/>
        </p:nvSpPr>
        <p:spPr>
          <a:xfrm>
            <a:off x="5821527" y="201168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1527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5278" y="2743200"/>
            <a:ext cx="19811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CAMPO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5278" y="3017520"/>
            <a:ext cx="19811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Inspección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0998" y="3611880"/>
            <a:ext cx="188969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El técnico registra los análisis, fotos y ubicación en el lugar.</a:t>
            </a:r>
          </a:p>
        </p:txBody>
      </p:sp>
      <p:sp>
        <p:nvSpPr>
          <p:cNvPr id="20" name="Oval 19"/>
          <p:cNvSpPr/>
          <p:nvPr/>
        </p:nvSpPr>
        <p:spPr>
          <a:xfrm>
            <a:off x="8031266" y="201168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31266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017" y="2743200"/>
            <a:ext cx="19811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017" y="3017520"/>
            <a:ext cx="19811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Revisión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737" y="3611880"/>
            <a:ext cx="188969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El sistema señala incoherencias antes de emitir el veredicto.</a:t>
            </a:r>
          </a:p>
        </p:txBody>
      </p:sp>
      <p:sp>
        <p:nvSpPr>
          <p:cNvPr id="25" name="Oval 24"/>
          <p:cNvSpPr/>
          <p:nvPr/>
        </p:nvSpPr>
        <p:spPr>
          <a:xfrm>
            <a:off x="10241005" y="201168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005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4756" y="2743200"/>
            <a:ext cx="19811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VEREDICTO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4756" y="3017520"/>
            <a:ext cx="19811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Dictamen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0476" y="3611880"/>
            <a:ext cx="188969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Aprobado, aprobado con observaciones o rechazado, con su justificación.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486400"/>
            <a:ext cx="10820095" cy="594360"/>
          </a:xfrm>
          <a:prstGeom prst="rect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5486400"/>
            <a:ext cx="64008" cy="59436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486400"/>
            <a:ext cx="1018001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"/>
              </a:rPr>
              <a:t>Tras el veredicto, comprador y vendedor firman el informe en la plataforma: su trabajo queda reconocido por ambas partes.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Verificador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HONORARIOS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Cobra por inspeccionar,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no por aprobar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500" i="0">
                <a:solidFill>
                  <a:srgbClr val="5A6B74"/>
                </a:solidFill>
                <a:latin typeface="Segoe UI"/>
              </a:rPr>
              <a:t>El honorario retribuye la inspección, no su resultado: esa es la base de su independencia.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774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700" i="0">
                <a:solidFill>
                  <a:srgbClr val="0D2B3E"/>
                </a:solidFill>
                <a:latin typeface="Segoe UI Semibold"/>
              </a:rPr>
              <a:t>Cómo se calcula el honorario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8036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Tarifa base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USD 250 por inspección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Variable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USD 0,02 por libra del lote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Mínimo y máximo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USD 300 y USD 800 por inspección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Ejemplos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5.000 lb → USD 350  ·  10.000 lb → USD 450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Transparencia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el comprador ve el desglose antes de elegirle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2377440"/>
            <a:ext cx="4967935" cy="3703320"/>
          </a:xfrm>
          <a:prstGeom prst="rect">
            <a:avLst/>
          </a:prstGeom>
          <a:solidFill>
            <a:srgbClr val="0D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697480"/>
            <a:ext cx="4236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LIQUIDACIÓN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3017520"/>
            <a:ext cx="4236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FFFFFF"/>
                </a:solidFill>
                <a:latin typeface="Segoe UI Semibold"/>
              </a:rPr>
              <a:t>Su pago no depende del resultado ni de la voluntad de las partes.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749040"/>
            <a:ext cx="4236415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La liquidación se genera automáticamente con el veredicto, apruebe o rechace.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Se emite como factura de proveedor a su nombre.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Trazul se encarga de facturar a la parte que corresponda pagar.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Usted recibe el 85 % del honorario de cada inspección.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5394960"/>
            <a:ext cx="4236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50" i="0">
                <a:solidFill>
                  <a:srgbClr val="4FC7D6"/>
                </a:solidFill>
                <a:latin typeface="Segoe UI Semibold"/>
              </a:rPr>
              <a:t>Sin cobranzas incómodas ni resultados negociados.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Verificador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REPUTACIÓN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Su prestigio,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visible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 para cada comprador.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700" i="0">
                <a:solidFill>
                  <a:srgbClr val="0D2B3E"/>
                </a:solidFill>
                <a:latin typeface="Segoe UI Semibold"/>
              </a:rPr>
              <a:t>Cómo le eligen los compradores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0280"/>
            <a:ext cx="539496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Acreditación vigente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solo aparecen verificadores con acreditación aprobada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Calificación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la lista se ordena por calificación y número de reseñas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Perfil completo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cobertura, tiempo de respuesta, equipos y análisis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Acreditación impresa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en cada certificado de trazabilidad que firma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7960" y="1737360"/>
            <a:ext cx="4967935" cy="4343400"/>
          </a:xfrm>
          <a:prstGeom prst="rect">
            <a:avLst/>
          </a:prstGeom>
          <a:solidFill>
            <a:srgbClr val="0D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2057400"/>
            <a:ext cx="4236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REQUISITOS PARA OPERAR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377440"/>
            <a:ext cx="4236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FFFFFF"/>
                </a:solidFill>
                <a:latin typeface="Segoe UI Semibold"/>
              </a:rPr>
              <a:t>La confianza del sistema se apoya en su acreditación.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3108960"/>
            <a:ext cx="423641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Acreditación de verificador vigente (renovación cada 2 años).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Habilitación de laboratorio de análisis de Agrocalidad (renovación anual).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Datos de su empresa, responsable técnico y cuenta bancaria para honorarios.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Cobertura geográfica, radio de atención y capacidad de lotes por día.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5394960"/>
            <a:ext cx="4236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50" i="0">
                <a:solidFill>
                  <a:srgbClr val="4FC7D6"/>
                </a:solidFill>
                <a:latin typeface="Segoe UI Semibold"/>
              </a:rPr>
              <a:t>Cada informe bien hecho suma a su reputación.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Verificador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LA DIFERENCIA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/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Profesionalice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 su servicio de verificación.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0" y="17373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200">
                <a:solidFill>
                  <a:srgbClr val="5A6B74"/>
                </a:solidFill>
                <a:latin typeface="Segoe UI Semibold"/>
              </a:rPr>
              <a:t>HOY</a:t>
            </a:r>
          </a:p>
        </p:txBody>
      </p:sp>
      <p:sp>
        <p:nvSpPr>
          <p:cNvPr id="5" name="Rectangle 4"/>
          <p:cNvSpPr/>
          <p:nvPr/>
        </p:nvSpPr>
        <p:spPr>
          <a:xfrm>
            <a:off x="7452360" y="1664208"/>
            <a:ext cx="4053535" cy="457200"/>
          </a:xfrm>
          <a:prstGeom prst="rect">
            <a:avLst/>
          </a:prstGeom>
          <a:solidFill>
            <a:srgbClr val="0D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1737360"/>
            <a:ext cx="40535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200">
                <a:solidFill>
                  <a:srgbClr val="4FC7D6"/>
                </a:solidFill>
                <a:latin typeface="Segoe UI Semibold"/>
              </a:rPr>
              <a:t>CON TRAZUL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21408"/>
            <a:ext cx="67665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2360" y="2121408"/>
            <a:ext cx="4053535" cy="640080"/>
          </a:xfrm>
          <a:prstGeom prst="rect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 Semibold"/>
              </a:rPr>
              <a:t>Clientes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21408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Contactos directos, uno por uno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121408"/>
            <a:ext cx="3687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0D2B3E"/>
                </a:solidFill>
                <a:latin typeface="Segoe UI"/>
              </a:rPr>
              <a:t>Demanda de empacadoras y laboratorios de la plataforma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2761488"/>
            <a:ext cx="4053535" cy="640080"/>
          </a:xfrm>
          <a:prstGeom prst="rect">
            <a:avLst/>
          </a:prstGeom>
          <a:solidFill>
            <a:srgbClr val="F0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6148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 Semibold"/>
              </a:rPr>
              <a:t>Asignación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761488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Llamadas y mensajes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761488"/>
            <a:ext cx="3687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0D2B3E"/>
                </a:solidFill>
                <a:latin typeface="Segoe UI"/>
              </a:rPr>
              <a:t>Bandeja por estado y asignación a técnicos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401568"/>
            <a:ext cx="67665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3401568"/>
            <a:ext cx="4053535" cy="640080"/>
          </a:xfrm>
          <a:prstGeom prst="rect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40156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 Semibold"/>
              </a:rPr>
              <a:t>Informe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401568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Papel o WhatsApp, con cálculos a mano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401568"/>
            <a:ext cx="3687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0D2B3E"/>
                </a:solidFill>
                <a:latin typeface="Segoe UI"/>
              </a:rPr>
              <a:t>Formulario guiado con cálculos automáticos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4041648"/>
            <a:ext cx="4053535" cy="640080"/>
          </a:xfrm>
          <a:prstGeom prst="rect">
            <a:avLst/>
          </a:prstGeom>
          <a:solidFill>
            <a:srgbClr val="F0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04164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 Semibold"/>
              </a:rPr>
              <a:t>Evidencia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041648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Fotos sueltas en el teléfono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041648"/>
            <a:ext cx="3687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0D2B3E"/>
                </a:solidFill>
                <a:latin typeface="Segoe UI"/>
              </a:rPr>
              <a:t>Fotos, GPS y hora dentro del informe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681728"/>
            <a:ext cx="67665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52360" y="4681728"/>
            <a:ext cx="4053535" cy="640080"/>
          </a:xfrm>
          <a:prstGeom prst="rect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68172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 Semibold"/>
              </a:rPr>
              <a:t>Cobro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681728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Depende del resultado y de las partes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4681728"/>
            <a:ext cx="3687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0D2B3E"/>
                </a:solidFill>
                <a:latin typeface="Segoe UI"/>
              </a:rPr>
              <a:t>Liquidación automática con el veredicto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60" y="5321808"/>
            <a:ext cx="4053535" cy="640080"/>
          </a:xfrm>
          <a:prstGeom prst="rect">
            <a:avLst/>
          </a:prstGeom>
          <a:solidFill>
            <a:srgbClr val="F0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32180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 Semibold"/>
              </a:rPr>
              <a:t>Reputación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5321808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De boca en boca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5321808"/>
            <a:ext cx="3687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0D2B3E"/>
                </a:solidFill>
                <a:latin typeface="Segoe UI"/>
              </a:rPr>
              <a:t>Calificaciones y acreditación visibles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Verificador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CÓMO EMPEZAR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Operando en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cuatro pasos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1952586" y="2286000"/>
            <a:ext cx="8286521" cy="19050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78266" y="201168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78266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2533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PASO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25335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Registro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244213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Registre su empresa desde el sitio de verificadores de Trazul.</a:t>
            </a:r>
          </a:p>
        </p:txBody>
      </p:sp>
      <p:sp>
        <p:nvSpPr>
          <p:cNvPr id="10" name="Oval 9"/>
          <p:cNvSpPr/>
          <p:nvPr/>
        </p:nvSpPr>
        <p:spPr>
          <a:xfrm>
            <a:off x="4440440" y="201168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0440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973" y="2743200"/>
            <a:ext cx="2533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973" y="3017520"/>
            <a:ext cx="25335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Acreditación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693" y="3611880"/>
            <a:ext cx="244213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Cargue su acreditación y habilitación. Trazul las revisa y las aprueba.</a:t>
            </a:r>
          </a:p>
        </p:txBody>
      </p:sp>
      <p:sp>
        <p:nvSpPr>
          <p:cNvPr id="15" name="Oval 14"/>
          <p:cNvSpPr/>
          <p:nvPr/>
        </p:nvSpPr>
        <p:spPr>
          <a:xfrm>
            <a:off x="7202614" y="201168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2614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147" y="2743200"/>
            <a:ext cx="2533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PASO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0147" y="3017520"/>
            <a:ext cx="25335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Su equipo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5867" y="3611880"/>
            <a:ext cx="244213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Dé de alta a sus técnicos de campo y configure su cobertura.</a:t>
            </a:r>
          </a:p>
        </p:txBody>
      </p:sp>
      <p:sp>
        <p:nvSpPr>
          <p:cNvPr id="20" name="Oval 19"/>
          <p:cNvSpPr/>
          <p:nvPr/>
        </p:nvSpPr>
        <p:spPr>
          <a:xfrm>
            <a:off x="9964788" y="201168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4788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2321" y="2743200"/>
            <a:ext cx="2533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PASO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2321" y="3017520"/>
            <a:ext cx="25335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Primeras órdenes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8041" y="3611880"/>
            <a:ext cx="244213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Aparece ante los compradores y recibe las verificaciones en su bandeja.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486400"/>
            <a:ext cx="10820095" cy="594360"/>
          </a:xfrm>
          <a:prstGeom prst="rect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5486400"/>
            <a:ext cx="64008" cy="59436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486400"/>
            <a:ext cx="1018001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"/>
              </a:rPr>
              <a:t>No hay que instalar nada: sus técnicos operan desde el navegador del teléfono, en campo.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Verificador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horizontal-o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0080"/>
            <a:ext cx="2471351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18288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HABLEMOS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94560"/>
            <a:ext cx="6583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3600" i="0">
                <a:solidFill>
                  <a:srgbClr val="FFFFFF"/>
                </a:solidFill>
                <a:latin typeface="Segoe UI Semibold"/>
              </a:rPr>
              <a:t>Sea el tercero en quien </a:t>
            </a:r>
            <a:r>
              <a:rPr b="0" sz="3600" i="0">
                <a:solidFill>
                  <a:srgbClr val="4FC7D6"/>
                </a:solidFill>
                <a:latin typeface="Segoe UI Semibold"/>
              </a:rPr>
              <a:t>confía el mercado</a:t>
            </a:r>
            <a:r>
              <a:rPr b="0" sz="3600" i="0">
                <a:solidFill>
                  <a:srgbClr val="FFFFFF"/>
                </a:solidFill>
                <a:latin typeface="Segoe UI Semibold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11880"/>
            <a:ext cx="6217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500" i="0">
                <a:solidFill>
                  <a:srgbClr val="9FB4BD"/>
                </a:solidFill>
                <a:latin typeface="Segoe UI"/>
              </a:rPr>
              <a:t>Le mostramos la bandeja, el informe de campo y la liquidación funcionando.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800600"/>
            <a:ext cx="6217920" cy="960120"/>
          </a:xfrm>
          <a:prstGeom prst="rect">
            <a:avLst/>
          </a:prstGeom>
          <a:solidFill>
            <a:srgbClr val="12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4800600"/>
            <a:ext cx="64008" cy="96012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892040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600" i="0">
                <a:solidFill>
                  <a:srgbClr val="FFFFFF"/>
                </a:solidFill>
                <a:latin typeface="Segoe UI Semibold"/>
              </a:rPr>
              <a:t>Carlos Carballo  ·  098 549 5115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b="0" sz="1300" i="0">
                <a:solidFill>
                  <a:srgbClr val="4FC7D6"/>
                </a:solidFill>
                <a:latin typeface="Segoe UI"/>
              </a:rPr>
              <a:t>carlos260590_@hotmail.com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3642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LO QUE NO LE PEDIMOS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240280"/>
            <a:ext cx="3642055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400" i="0">
                <a:solidFill>
                  <a:srgbClr val="4FC7D6"/>
                </a:solidFill>
                <a:latin typeface="Segoe UI"/>
              </a:rPr>
              <a:t>—  </a:t>
            </a:r>
            <a:r>
              <a:rPr b="0" sz="1400" i="0">
                <a:solidFill>
                  <a:srgbClr val="FFFFFF"/>
                </a:solidFill>
                <a:latin typeface="Segoe UI"/>
              </a:rPr>
              <a:t>No instalar servidores, programas ni equipos.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b="0" sz="1400" i="0">
                <a:solidFill>
                  <a:srgbClr val="4FC7D6"/>
                </a:solidFill>
                <a:latin typeface="Segoe UI"/>
              </a:rPr>
              <a:t>—  </a:t>
            </a:r>
            <a:r>
              <a:rPr b="0" sz="1400" i="0">
                <a:solidFill>
                  <a:srgbClr val="FFFFFF"/>
                </a:solidFill>
                <a:latin typeface="Segoe UI"/>
              </a:rPr>
              <a:t>No cambiar sus procedimientos técnicos de inspección.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b="0" sz="1400" i="0">
                <a:solidFill>
                  <a:srgbClr val="4FC7D6"/>
                </a:solidFill>
                <a:latin typeface="Segoe UI"/>
              </a:rPr>
              <a:t>—  </a:t>
            </a:r>
            <a:r>
              <a:rPr b="0" sz="1400" i="0">
                <a:solidFill>
                  <a:srgbClr val="FFFFFF"/>
                </a:solidFill>
                <a:latin typeface="Segoe UI"/>
              </a:rPr>
              <a:t>No asumir el riesgo de cobro por resultados desfavorables.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2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FFFFFF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4FC7D6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9FB4BD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9FB4BD"/>
                </a:solidFill>
                <a:latin typeface="Segoe UI"/>
              </a:rPr>
              <a:t>Perfil Verificador  ·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