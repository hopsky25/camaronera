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59775" y="0"/>
            <a:ext cx="3931920" cy="685800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9775" y="0"/>
            <a:ext cx="73152" cy="68580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800865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PROPUESTA PARA EMPACADORAS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4000" i="0">
                <a:solidFill>
                  <a:srgbClr val="FFFFFF"/>
                </a:solidFill>
                <a:latin typeface="Segoe UI Semibold"/>
              </a:rPr>
              <a:t>Usted no compra camarón. </a:t>
            </a:r>
            <a:r>
              <a:rPr b="0" sz="4000" i="0">
                <a:solidFill>
                  <a:srgbClr val="4FC7D6"/>
                </a:solidFill>
                <a:latin typeface="Segoe UI Semibold"/>
              </a:rPr>
              <a:t>Compra una declaración.</a:t>
            </a:r>
            <a:r>
              <a:rPr b="0" sz="4000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700" i="0">
                <a:solidFill>
                  <a:srgbClr val="9FB4BD"/>
                </a:solidFill>
                <a:latin typeface="Segoe UI"/>
              </a:rPr>
              <a:t>El rendimiento, el peso y la talla se los declaran; no los mide nadie. Trazul pone un técnico independiente a medirlos en su planta, lote por lote.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400">
                <a:solidFill>
                  <a:srgbClr val="4FC7D6"/>
                </a:solidFill>
                <a:latin typeface="Segoe UI Semibold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2697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Empacadora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6975" y="3474720"/>
            <a:ext cx="822960" cy="381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6975" y="37033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9FB4BD"/>
                </a:solidFill>
                <a:latin typeface="Segoe UI"/>
              </a:rPr>
              <a:t>Presentación ejecutiva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Empacadora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Hoy decide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tarde y sin datos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0312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 entera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El rendimiento real aparece cuando el lote ya está pagado. Ahí ya no se puede decidir nada.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938" y="210312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3938" y="210312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978" y="23774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3978" y="27432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Compra por costumbre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42900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«Siempre nos ha cumplido» no es un dato. Nadie sabe cuánto rindió cada proveedor el último trimestre.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210312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210312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2116" y="237744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274320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El pleito del peso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42900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Peso enviado contra peso en planta, discutido entre dos partes interesadas y sin un tercero que mida.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49240"/>
            <a:ext cx="10820095" cy="6858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 i="0">
                <a:solidFill>
                  <a:srgbClr val="FFFFFF"/>
                </a:solidFill>
                <a:latin typeface="Segoe UI Semibold"/>
              </a:rPr>
              <a:t>Trazul mide cada lote en su planta y le arma el historial de cada proveedor.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LUGAR EN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Usted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cierra la cadena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Compra camarón adulto a las camaroneras y lo procesa para sus mercados.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Semillero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Nauplio. El origen genético y sanitario de toda la cadena.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3653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693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2293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2293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Laboratorio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Maduración y larvicultura: larva y postlarva.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1587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Camaronera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Engorde en piscina hasta el camarón adulto.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89441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9481" y="2743200"/>
            <a:ext cx="2396413" cy="192024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9481" y="2743200"/>
            <a:ext cx="2396413" cy="64008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8081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4FC7D6"/>
                </a:solidFill>
                <a:latin typeface="Segoe UI Semibold"/>
              </a:rPr>
              <a:t>USTED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081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Empacadora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8081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9FB4BD"/>
                </a:solidFill>
                <a:latin typeface="Segoe UI"/>
              </a:rPr>
              <a:t>Proceso y exportación, con compra verificada.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En Trazul, el camarón adulto solo lo compran empacadoras, y cada compra pasa por un verificador acreditado.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QUÉ ES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Toda la cadena del camarón, del nauplio a la planta, con </a:t>
            </a:r>
            <a:r>
              <a:rPr b="0" sz="3400" i="0">
                <a:solidFill>
                  <a:srgbClr val="4FC7D6"/>
                </a:solidFill>
                <a:latin typeface="Segoe UI Semibold"/>
              </a:rPr>
              <a:t>trazabilidad verificada</a:t>
            </a:r>
            <a:r>
              <a:rPr b="0" sz="34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Un solo sistema en el que cada eslabón publica, compra y vende, y donde cada lote conserva su historia completa desde el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Marketplace por eslabón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perfil ve y compra solo lo que le corresponde: el semillero vende al laboratorio, el laboratorio a la camaronera y la camaronera a la empacadora.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Verificación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Un verificador acreditado, que no trabaja para ninguna de las partes, mide el lote en campo y firma el informe con fotos, ubicación y hora.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556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Certificado de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compra genera un certificado con la cadena de custodia, los certificados sanitarios, la evolución del lote y el informe del verificador.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Empacadora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TÉCNICO INDEPENDIENTE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Cada lote, medido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en su propia planta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No lo mide el productor ni lo mide su gente: lo mide un verificador acreditado.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Lo que se mide, lote por lote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Peso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enviado vs. real en planta, basura y sobrepeso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Metabisulfito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contra el límite: pasa o no pasa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Sabor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criterios de cata, uno por uno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Gramaje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declarado vs. real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Rendimiento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y clasificación A / B / C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Evidencia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fotos, GPS y hora del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377440"/>
            <a:ext cx="4967935" cy="370332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POR QUÉ PUEDE CREERLE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Independiente por diseño.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236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No trabaja para ninguna de las dos partes: es una empresa con acreditación registrada, impresa en el certificado.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Cobra lo mismo si el lote pasa o si lo rechaza.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Si lo medido no coincide con lo publicado, el certificado lo dice.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Usted elige el verificador entre los acreditados.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RENDIMIENTO DE PROVEEDORES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Sus proveedores, ordenados por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rendimiento medido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Proveedor 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874520"/>
            <a:ext cx="4754880" cy="274320"/>
          </a:xfrm>
          <a:prstGeom prst="rect">
            <a:avLst/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23160" y="1874520"/>
            <a:ext cx="4754880" cy="2743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68,4 %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Proveedor B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532888"/>
            <a:ext cx="4754880" cy="274320"/>
          </a:xfrm>
          <a:prstGeom prst="rect">
            <a:avLst/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2532888"/>
            <a:ext cx="3899079" cy="274320"/>
          </a:xfrm>
          <a:prstGeom prst="rect">
            <a:avLst/>
          </a:prstGeom>
          <a:solidFill>
            <a:srgbClr val="9F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4871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65,1 %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553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Proveedor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191256"/>
            <a:ext cx="4754880" cy="274320"/>
          </a:xfrm>
          <a:prstGeom prst="rect">
            <a:avLst/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3191256"/>
            <a:ext cx="3276678" cy="274320"/>
          </a:xfrm>
          <a:prstGeom prst="rect">
            <a:avLst/>
          </a:prstGeom>
          <a:solidFill>
            <a:srgbClr val="9F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14553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62,7 %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039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Proveedor 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849624"/>
            <a:ext cx="4754880" cy="274320"/>
          </a:xfrm>
          <a:prstGeom prst="rect">
            <a:avLst/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3160" y="3849624"/>
            <a:ext cx="2291211" cy="274320"/>
          </a:xfrm>
          <a:prstGeom prst="rect">
            <a:avLst/>
          </a:prstGeom>
          <a:solidFill>
            <a:srgbClr val="9F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80390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58,9 %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99432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100" i="0">
                <a:solidFill>
                  <a:srgbClr val="5A6B74"/>
                </a:solidFill>
                <a:latin typeface="Segoe UI"/>
              </a:rPr>
              <a:t>Ejemplo ilustrativo. Entre el primero y el último hay 9,5 puntos de rendimiento sobre el mismo camarón, y hoy usted no sabe cuál de sus proveedores es cuál.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79" y="1737360"/>
            <a:ext cx="2864816" cy="310896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2011680"/>
            <a:ext cx="22247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Un ranking construido con datos verificados.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880360"/>
            <a:ext cx="222473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250" i="0">
                <a:solidFill>
                  <a:srgbClr val="C8D6DC"/>
                </a:solidFill>
                <a:latin typeface="Segoe UI"/>
              </a:rPr>
              <a:t>Cada proveedor se puntúa por rendimiento (45 %), proporción de clase A (25 %) y cumplimiento de lo publicado (30 %). Desde el ranking ve sus lotes disponibles y compra directamente.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LISTA DE PRECIOS, COMO PALANCA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Mueva el precio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donde le falta talla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La lista que hoy envía por WhatsApp, ahora con destinatarios, historial y constancia.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Matriz completa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Talla por presentación y calidad; entero en $/kg y cola en $/lb, directa y sobrante, con bonificaciones.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8258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8258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5458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Destinatarios elegidos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Envíe la lista solo a los productores que usted elija, o a un grupo empresarial completo.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33172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6396" y="260604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2606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3596" y="249631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Condiciones claras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20040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Ventana de despacho, anticipo, plazo de pago y condiciones de calidad, con constancia de qué ofreció y cuándo.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Carga rápida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Importe la lista desde una plantilla de Excel o duplique la de la semana anterior.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3938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58258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8258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5458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Publicación programada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8258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Deje la lista lista y el sistema la publica sola en la fecha indicada.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2076" y="4320540"/>
            <a:ext cx="3423818" cy="17602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56396" y="45948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6396" y="45948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3596" y="44851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Confidencial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396" y="5189220"/>
            <a:ext cx="2875178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Ningún productor ve el precio de otro y ninguna otra empacadora ve el suyo.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COMPRA Y NEGOCIACIÓN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Una renegociación que se resuelve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con aritmética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Cómo funciona una compra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3949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Oferta disponible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lotes publicados en las tallas que su lista cotiza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Compra con verificador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la cantidad queda reservada mientras se verifica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Informe en campo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pesos, rendimiento, clases, metabisulfito y sabor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Aceptación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ambas partes aceptan o rechazan en un plazo de 48 horas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Contraoferta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si el informe muestra un incumplimiento medido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Certificado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trazabilidad completa del lote al cerrar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37360"/>
            <a:ext cx="4967935" cy="43434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CONTRAOFERTA ANCLADA A SU 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Si el verificador mide otra talla, el precio ya está escrito.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108960"/>
            <a:ext cx="423641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El sistema propone el precio que su propia lista paga por la talla realmente medida.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La discusión deja de ser de opiniones: es la diferencia entre dos filas de su lista.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Si el vendedor no responde en el plazo, la postura se da por aceptada.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Menos tiempo discutiendo, más tiempo procesando.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CERTIFICADO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argumento de venta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que hoy no tiene.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El informe no muere en un archivo interno: se vuelve el certificado de trazabilidad del lote.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Qué incluye el certificado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Origen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instalación, piscina, código de lote y fecha de producción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Cadena de custodia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cada paso con fecha, origen y destino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Certificados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sanitarios y de calidad de cada eslabón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Informe del verificador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empresa, técnico, acreditación, pesos, rendimiento y clase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Sello de conformidad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coincide o no coincide con lo publicado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Código QR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enlazado al registro del lote en la 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377440"/>
            <a:ext cx="4967935" cy="370332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PARA SU CLIENTE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Trazabilidad desde la larva hasta su planta.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236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Entregue a su comprador un documento con toda la cadena adentro.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Respaldo para auditorías y exigencias de mercados como Asia, Europa y Norteamérica.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Diferénciese de otras plantas con evidencia, no con promesas.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Operando 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cuatro pasos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2586" y="2286000"/>
            <a:ext cx="8286521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8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78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Damos de alta su empresa y su planta. No se instala nada.</a:t>
            </a:r>
          </a:p>
        </p:txBody>
      </p:sp>
      <p:sp>
        <p:nvSpPr>
          <p:cNvPr id="10" name="Oval 9"/>
          <p:cNvSpPr/>
          <p:nvPr/>
        </p:nvSpPr>
        <p:spPr>
          <a:xfrm>
            <a:off x="4440440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Su lista de precios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693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Publica su lista solo a los productores que elija.</a:t>
            </a:r>
          </a:p>
        </p:txBody>
      </p:sp>
      <p:sp>
        <p:nvSpPr>
          <p:cNvPr id="15" name="Oval 14"/>
          <p:cNvSpPr/>
          <p:nvPr/>
        </p:nvSpPr>
        <p:spPr>
          <a:xfrm>
            <a:off x="7202614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2614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Compra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Compra con verificador; el técnico mide cada lote en su planta.</a:t>
            </a:r>
          </a:p>
        </p:txBody>
      </p:sp>
      <p:sp>
        <p:nvSpPr>
          <p:cNvPr id="20" name="Oval 19"/>
          <p:cNvSpPr/>
          <p:nvPr/>
        </p:nvSpPr>
        <p:spPr>
          <a:xfrm>
            <a:off x="9964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321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Sus proveedores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 rendimiento de cada proveedor se ordena solo, lote a lote.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No hay que instalar nada ni cambiar su sistema contable: todo funciona desde el navegador.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Empacadora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471351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600" i="0">
                <a:solidFill>
                  <a:srgbClr val="FFFFFF"/>
                </a:solidFill>
                <a:latin typeface="Segoe UI Semibold"/>
              </a:rPr>
              <a:t>Compre </a:t>
            </a:r>
            <a:r>
              <a:rPr b="0" sz="3600" i="0">
                <a:solidFill>
                  <a:srgbClr val="4FC7D6"/>
                </a:solidFill>
                <a:latin typeface="Segoe UI Semibold"/>
              </a:rPr>
              <a:t>lo que se mide</a:t>
            </a:r>
            <a:r>
              <a:rPr b="0" sz="3600" i="0">
                <a:solidFill>
                  <a:srgbClr val="FFFFFF"/>
                </a:solidFill>
                <a:latin typeface="Segoe UI Semibold"/>
              </a:rPr>
              <a:t>, no lo que se declara.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Le mostramos la plataforma funcionando, con sus listas, sus lotes y sus proveedores.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6217920" cy="96012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Carlos Carballo  ·  098 549 5115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b="0" sz="1300" i="0">
                <a:solidFill>
                  <a:srgbClr val="4FC7D6"/>
                </a:solidFill>
                <a:latin typeface="Segoe UI"/>
              </a:rPr>
              <a:t>carlos260590_@hotmail.com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LO QUE NO LE PEDIMOS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64205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instalar servidores, programas ni equipos.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cambiar su forma de trabajar ni su sistema contable.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migrar información ni vaciar históricos.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Empacadora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